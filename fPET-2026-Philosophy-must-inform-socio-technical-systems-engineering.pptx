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8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457200"/>
            <a:ext cx="5669280" cy="4754880"/>
          </a:xfrm>
          <a:prstGeom prst="ellipse">
            <a:avLst/>
          </a:prstGeom>
          <a:solidFill>
            <a:srgbClr val="0D6B78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2743200"/>
            <a:ext cx="4114800" cy="2743200"/>
          </a:xfrm>
          <a:prstGeom prst="ellipse">
            <a:avLst/>
          </a:prstGeom>
          <a:solidFill>
            <a:srgbClr val="1D6FA4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02920"/>
            <a:ext cx="502920" cy="22860"/>
          </a:xfrm>
          <a:prstGeom prst="rect">
            <a:avLst/>
          </a:prstGeom>
          <a:solidFill>
            <a:srgbClr val="5ECFD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56692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ECF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fPET 2026  ·  PHILOSOPHY OF ENGINEERING &amp; TECHNOLOGY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6400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Philosophy must inform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socio-technical</a:t>
            </a:r>
            <a:endParaRPr lang="en-US" sz="3800" dirty="0"/>
          </a:p>
          <a:p>
            <a:pPr indent="0" marL="0">
              <a:buNone/>
            </a:pPr>
            <a:r>
              <a:rPr lang="en-US" sz="3800" b="1" i="1" dirty="0">
                <a:solidFill>
                  <a:srgbClr val="5ECFD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systems engineering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48640" y="3611880"/>
            <a:ext cx="3657600" cy="109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703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George Percivall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4069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CF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gspercivall@sjc.edu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43708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4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Distinguished Engineering Fellow  ·  GeoRoundtable &amp; Spatial Web Foundation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617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4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MALA Candidate  ·  St. John's College, Annapolis  ·  IEEE AISC Officer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1325880"/>
            <a:ext cx="2514600" cy="2514600"/>
          </a:xfrm>
          <a:prstGeom prst="ellipse">
            <a:avLst/>
          </a:prstGeom>
          <a:solidFill>
            <a:srgbClr val="0A1F4D"/>
          </a:solidFill>
          <a:ln w="6350">
            <a:solidFill>
              <a:srgbClr val="5ECFDB"/>
            </a:solidFill>
            <a:prstDash val="solid"/>
          </a:ln>
        </p:spPr>
      </p:sp>
      <p:pic>
        <p:nvPicPr>
          <p:cNvPr id="13" name="Image 0" descr="/sessions/eloquent-adoring-thompson/deck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417320"/>
            <a:ext cx="2331720" cy="2331720"/>
          </a:xfrm>
          <a:prstGeom prst="ellipse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0" y="5088636"/>
            <a:ext cx="2286000" cy="54864"/>
          </a:xfrm>
          <a:prstGeom prst="rect">
            <a:avLst/>
          </a:prstGeom>
          <a:solidFill>
            <a:srgbClr val="081840"/>
          </a:solidFill>
          <a:ln/>
        </p:spPr>
      </p:sp>
      <p:sp>
        <p:nvSpPr>
          <p:cNvPr id="15" name="Shape 12"/>
          <p:cNvSpPr/>
          <p:nvPr/>
        </p:nvSpPr>
        <p:spPr>
          <a:xfrm>
            <a:off x="2286000" y="5088636"/>
            <a:ext cx="2286000" cy="54864"/>
          </a:xfrm>
          <a:prstGeom prst="rect">
            <a:avLst/>
          </a:prstGeom>
          <a:solidFill>
            <a:srgbClr val="0D6B78"/>
          </a:solidFill>
          <a:ln/>
        </p:spPr>
      </p:sp>
      <p:sp>
        <p:nvSpPr>
          <p:cNvPr id="16" name="Shape 13"/>
          <p:cNvSpPr/>
          <p:nvPr/>
        </p:nvSpPr>
        <p:spPr>
          <a:xfrm>
            <a:off x="4572000" y="5088636"/>
            <a:ext cx="2286000" cy="54864"/>
          </a:xfrm>
          <a:prstGeom prst="rect">
            <a:avLst/>
          </a:prstGeom>
          <a:solidFill>
            <a:srgbClr val="3B9EDD"/>
          </a:solidFill>
          <a:ln/>
        </p:spPr>
      </p:sp>
      <p:sp>
        <p:nvSpPr>
          <p:cNvPr id="17" name="Shape 14"/>
          <p:cNvSpPr/>
          <p:nvPr/>
        </p:nvSpPr>
        <p:spPr>
          <a:xfrm>
            <a:off x="6858000" y="5088636"/>
            <a:ext cx="1143000" cy="54864"/>
          </a:xfrm>
          <a:prstGeom prst="rect">
            <a:avLst/>
          </a:prstGeom>
          <a:solidFill>
            <a:srgbClr val="1D6FA4"/>
          </a:solidFill>
          <a:ln/>
        </p:spPr>
      </p:sp>
      <p:sp>
        <p:nvSpPr>
          <p:cNvPr id="18" name="Shape 15"/>
          <p:cNvSpPr/>
          <p:nvPr/>
        </p:nvSpPr>
        <p:spPr>
          <a:xfrm>
            <a:off x="8001000" y="5088636"/>
            <a:ext cx="1143000" cy="54864"/>
          </a:xfrm>
          <a:prstGeom prst="rect">
            <a:avLst/>
          </a:prstGeom>
          <a:solidFill>
            <a:srgbClr val="08184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41148"/>
          </a:xfrm>
          <a:prstGeom prst="rect">
            <a:avLst/>
          </a:prstGeom>
          <a:solidFill>
            <a:srgbClr val="081840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0" y="0"/>
            <a:ext cx="2286000" cy="41148"/>
          </a:xfrm>
          <a:prstGeom prst="rect">
            <a:avLst/>
          </a:prstGeom>
          <a:solidFill>
            <a:srgbClr val="0D6B7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0" y="0"/>
            <a:ext cx="2286000" cy="41148"/>
          </a:xfrm>
          <a:prstGeom prst="rect">
            <a:avLst/>
          </a:prstGeom>
          <a:solidFill>
            <a:srgbClr val="3B9EDD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0" y="0"/>
            <a:ext cx="1143000" cy="41148"/>
          </a:xfrm>
          <a:prstGeom prst="rect">
            <a:avLst/>
          </a:prstGeom>
          <a:solidFill>
            <a:srgbClr val="1D6FA4"/>
          </a:solidFill>
          <a:ln/>
        </p:spPr>
      </p:sp>
      <p:sp>
        <p:nvSpPr>
          <p:cNvPr id="6" name="Shape 4"/>
          <p:cNvSpPr/>
          <p:nvPr/>
        </p:nvSpPr>
        <p:spPr>
          <a:xfrm>
            <a:off x="8001000" y="0"/>
            <a:ext cx="1143000" cy="41148"/>
          </a:xfrm>
          <a:prstGeom prst="rect">
            <a:avLst/>
          </a:prstGeom>
          <a:solidFill>
            <a:srgbClr val="08184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743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0D6B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5029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818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Agenda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8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engineering practice to philosophical foundations — and what they reshape together.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600200"/>
            <a:ext cx="59436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0D6B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188720" y="1716786"/>
            <a:ext cx="73152" cy="73152"/>
          </a:xfrm>
          <a:prstGeom prst="ellipse">
            <a:avLst/>
          </a:prstGeom>
          <a:solidFill>
            <a:srgbClr val="5ECFDB"/>
          </a:solidFill>
          <a:ln/>
        </p:spPr>
      </p:sp>
      <p:sp>
        <p:nvSpPr>
          <p:cNvPr id="12" name="Text 10"/>
          <p:cNvSpPr/>
          <p:nvPr/>
        </p:nvSpPr>
        <p:spPr>
          <a:xfrm>
            <a:off x="1389888" y="1600200"/>
            <a:ext cx="333756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Engineering in practice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7033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Location, automation, organizational culture, IEEE 2874.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1943100"/>
            <a:ext cx="8046720" cy="7315"/>
          </a:xfrm>
          <a:prstGeom prst="rect">
            <a:avLst/>
          </a:prstGeom>
          <a:solidFill>
            <a:srgbClr val="D8E4EF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1961388"/>
            <a:ext cx="59436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0D6B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1188720" y="2077974"/>
            <a:ext cx="73152" cy="73152"/>
          </a:xfrm>
          <a:prstGeom prst="ellipse">
            <a:avLst/>
          </a:prstGeom>
          <a:solidFill>
            <a:srgbClr val="5ECFDB"/>
          </a:solidFill>
          <a:ln/>
        </p:spPr>
      </p:sp>
      <p:sp>
        <p:nvSpPr>
          <p:cNvPr id="17" name="Text 15"/>
          <p:cNvSpPr/>
          <p:nvPr/>
        </p:nvSpPr>
        <p:spPr>
          <a:xfrm>
            <a:off x="1389888" y="1961388"/>
            <a:ext cx="333756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Philosophy for engineering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800600" y="1961388"/>
            <a:ext cx="37033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Engineering as a philosophical enterprise — beyond the technical.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2304288"/>
            <a:ext cx="8046720" cy="7315"/>
          </a:xfrm>
          <a:prstGeom prst="rect">
            <a:avLst/>
          </a:prstGeom>
          <a:solidFill>
            <a:srgbClr val="D8E4EF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322576"/>
            <a:ext cx="59436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0D6B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188720" y="2439162"/>
            <a:ext cx="73152" cy="73152"/>
          </a:xfrm>
          <a:prstGeom prst="ellipse">
            <a:avLst/>
          </a:prstGeom>
          <a:solidFill>
            <a:srgbClr val="5ECFDB"/>
          </a:solidFill>
          <a:ln/>
        </p:spPr>
      </p:sp>
      <p:sp>
        <p:nvSpPr>
          <p:cNvPr id="22" name="Text 20"/>
          <p:cNvSpPr/>
          <p:nvPr/>
        </p:nvSpPr>
        <p:spPr>
          <a:xfrm>
            <a:off x="1389888" y="2322576"/>
            <a:ext cx="333756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Engineering meets philosophy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800600" y="2322576"/>
            <a:ext cx="37033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Reviving the philosopher-builder; IEEE × St. John's.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2665476"/>
            <a:ext cx="8046720" cy="7315"/>
          </a:xfrm>
          <a:prstGeom prst="rect">
            <a:avLst/>
          </a:prstGeom>
          <a:solidFill>
            <a:srgbClr val="D8E4EF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2683764"/>
            <a:ext cx="59436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0D6B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1188720" y="2800350"/>
            <a:ext cx="73152" cy="73152"/>
          </a:xfrm>
          <a:prstGeom prst="ellipse">
            <a:avLst/>
          </a:prstGeom>
          <a:solidFill>
            <a:srgbClr val="5ECFDB"/>
          </a:solidFill>
          <a:ln/>
        </p:spPr>
      </p:sp>
      <p:sp>
        <p:nvSpPr>
          <p:cNvPr id="27" name="Text 25"/>
          <p:cNvSpPr/>
          <p:nvPr/>
        </p:nvSpPr>
        <p:spPr>
          <a:xfrm>
            <a:off x="1389888" y="2683764"/>
            <a:ext cx="333756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Stakeholder concerns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800600" y="2683764"/>
            <a:ext cx="37033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Responsibility, authority, meaning, value — made integral.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026664"/>
            <a:ext cx="8046720" cy="7315"/>
          </a:xfrm>
          <a:prstGeom prst="rect">
            <a:avLst/>
          </a:prstGeom>
          <a:solidFill>
            <a:srgbClr val="D8E4EF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44952"/>
            <a:ext cx="59436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0D6B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05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1188720" y="3161538"/>
            <a:ext cx="73152" cy="73152"/>
          </a:xfrm>
          <a:prstGeom prst="ellipse">
            <a:avLst/>
          </a:prstGeom>
          <a:solidFill>
            <a:srgbClr val="5ECFDB"/>
          </a:solidFill>
          <a:ln/>
        </p:spPr>
      </p:sp>
      <p:sp>
        <p:nvSpPr>
          <p:cNvPr id="32" name="Text 30"/>
          <p:cNvSpPr/>
          <p:nvPr/>
        </p:nvSpPr>
        <p:spPr>
          <a:xfrm>
            <a:off x="1389888" y="3044952"/>
            <a:ext cx="333756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Design: building and being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800600" y="3044952"/>
            <a:ext cx="37033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as ontological act — making artifacts, shaping ways of being.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3387852"/>
            <a:ext cx="8046720" cy="7315"/>
          </a:xfrm>
          <a:prstGeom prst="rect">
            <a:avLst/>
          </a:prstGeom>
          <a:solidFill>
            <a:srgbClr val="D8E4EF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3406140"/>
            <a:ext cx="59436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0D6B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06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1188720" y="3522726"/>
            <a:ext cx="73152" cy="73152"/>
          </a:xfrm>
          <a:prstGeom prst="ellipse">
            <a:avLst/>
          </a:prstGeom>
          <a:solidFill>
            <a:srgbClr val="5ECFDB"/>
          </a:solidFill>
          <a:ln/>
        </p:spPr>
      </p:sp>
      <p:sp>
        <p:nvSpPr>
          <p:cNvPr id="37" name="Text 35"/>
          <p:cNvSpPr/>
          <p:nvPr/>
        </p:nvSpPr>
        <p:spPr>
          <a:xfrm>
            <a:off x="1389888" y="3406140"/>
            <a:ext cx="333756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Innovation and liberty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800600" y="3406140"/>
            <a:ext cx="37033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Standards mature innovation into shared possibility.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48640" y="3749040"/>
            <a:ext cx="8046720" cy="7315"/>
          </a:xfrm>
          <a:prstGeom prst="rect">
            <a:avLst/>
          </a:prstGeom>
          <a:solidFill>
            <a:srgbClr val="D8E4EF"/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" y="3767328"/>
            <a:ext cx="59436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0D6B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07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1188720" y="3883914"/>
            <a:ext cx="73152" cy="73152"/>
          </a:xfrm>
          <a:prstGeom prst="ellipse">
            <a:avLst/>
          </a:prstGeom>
          <a:solidFill>
            <a:srgbClr val="5ECFDB"/>
          </a:solidFill>
          <a:ln/>
        </p:spPr>
      </p:sp>
      <p:sp>
        <p:nvSpPr>
          <p:cNvPr id="42" name="Text 40"/>
          <p:cNvSpPr/>
          <p:nvPr/>
        </p:nvSpPr>
        <p:spPr>
          <a:xfrm>
            <a:off x="1389888" y="3767328"/>
            <a:ext cx="333756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Being-there of artificial agents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4800600" y="3767328"/>
            <a:ext cx="37033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Dasein for AI — agency, knowledge, world.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48640" y="4110228"/>
            <a:ext cx="8046720" cy="7315"/>
          </a:xfrm>
          <a:prstGeom prst="rect">
            <a:avLst/>
          </a:prstGeom>
          <a:solidFill>
            <a:srgbClr val="D8E4EF"/>
          </a:solidFill>
          <a:ln/>
        </p:spPr>
      </p:sp>
      <p:sp>
        <p:nvSpPr>
          <p:cNvPr id="45" name="Text 43"/>
          <p:cNvSpPr/>
          <p:nvPr/>
        </p:nvSpPr>
        <p:spPr>
          <a:xfrm>
            <a:off x="548640" y="4128516"/>
            <a:ext cx="59436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0D6B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08</a:t>
            </a:r>
            <a:endParaRPr lang="en-US" sz="1700" dirty="0"/>
          </a:p>
        </p:txBody>
      </p:sp>
      <p:sp>
        <p:nvSpPr>
          <p:cNvPr id="46" name="Shape 44"/>
          <p:cNvSpPr/>
          <p:nvPr/>
        </p:nvSpPr>
        <p:spPr>
          <a:xfrm>
            <a:off x="1188720" y="4245102"/>
            <a:ext cx="73152" cy="73152"/>
          </a:xfrm>
          <a:prstGeom prst="ellipse">
            <a:avLst/>
          </a:prstGeom>
          <a:solidFill>
            <a:srgbClr val="5ECFDB"/>
          </a:solidFill>
          <a:ln/>
        </p:spPr>
      </p:sp>
      <p:sp>
        <p:nvSpPr>
          <p:cNvPr id="47" name="Text 45"/>
          <p:cNvSpPr/>
          <p:nvPr/>
        </p:nvSpPr>
        <p:spPr>
          <a:xfrm>
            <a:off x="1389888" y="4128516"/>
            <a:ext cx="333756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4800600" y="4128516"/>
            <a:ext cx="37033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Synthesis and invitation to fPET.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0" y="4823460"/>
            <a:ext cx="9144000" cy="10973"/>
          </a:xfrm>
          <a:prstGeom prst="rect">
            <a:avLst/>
          </a:prstGeom>
          <a:solidFill>
            <a:srgbClr val="D8E4EF"/>
          </a:solidFill>
          <a:ln/>
        </p:spPr>
      </p:sp>
      <p:sp>
        <p:nvSpPr>
          <p:cNvPr id="50" name="Text 48"/>
          <p:cNvSpPr/>
          <p:nvPr/>
        </p:nvSpPr>
        <p:spPr>
          <a:xfrm>
            <a:off x="548640" y="485089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Philosophy must inform socio-technical systems engineering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943600" y="485089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fPET 2026  ·  G. Percivall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229600" y="485089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6B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41148"/>
          </a:xfrm>
          <a:prstGeom prst="rect">
            <a:avLst/>
          </a:prstGeom>
          <a:solidFill>
            <a:srgbClr val="081840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0" y="0"/>
            <a:ext cx="2286000" cy="41148"/>
          </a:xfrm>
          <a:prstGeom prst="rect">
            <a:avLst/>
          </a:prstGeom>
          <a:solidFill>
            <a:srgbClr val="0D6B7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0" y="0"/>
            <a:ext cx="2286000" cy="41148"/>
          </a:xfrm>
          <a:prstGeom prst="rect">
            <a:avLst/>
          </a:prstGeom>
          <a:solidFill>
            <a:srgbClr val="3B9EDD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0" y="0"/>
            <a:ext cx="1143000" cy="41148"/>
          </a:xfrm>
          <a:prstGeom prst="rect">
            <a:avLst/>
          </a:prstGeom>
          <a:solidFill>
            <a:srgbClr val="1D6FA4"/>
          </a:solidFill>
          <a:ln/>
        </p:spPr>
      </p:sp>
      <p:sp>
        <p:nvSpPr>
          <p:cNvPr id="6" name="Shape 4"/>
          <p:cNvSpPr/>
          <p:nvPr/>
        </p:nvSpPr>
        <p:spPr>
          <a:xfrm>
            <a:off x="8001000" y="0"/>
            <a:ext cx="1143000" cy="41148"/>
          </a:xfrm>
          <a:prstGeom prst="rect">
            <a:avLst/>
          </a:prstGeom>
          <a:solidFill>
            <a:srgbClr val="08184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743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0D6B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STARTING FROM PRACTICE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5029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818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Engineering in practice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8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Ongoing projects where philosophy-informed methods are being applied and tested.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F0F5FB"/>
          </a:solidFill>
          <a:ln w="15875">
            <a:solidFill>
              <a:srgbClr val="0D6B7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D6B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34440" y="1545336"/>
            <a:ext cx="7269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Location-aware infrastructures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1929384"/>
            <a:ext cx="7269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Spatial web, GPS-tagged data, and location services embed normative assumptions about surveillance, jurisdiction, and the individual–institution relationship.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267712"/>
            <a:ext cx="8046720" cy="10973"/>
          </a:xfrm>
          <a:prstGeom prst="rect">
            <a:avLst/>
          </a:prstGeom>
          <a:solidFill>
            <a:srgbClr val="D8E4EF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331720"/>
            <a:ext cx="502920" cy="502920"/>
          </a:xfrm>
          <a:prstGeom prst="ellipse">
            <a:avLst/>
          </a:prstGeom>
          <a:solidFill>
            <a:srgbClr val="F0F5FB"/>
          </a:solidFill>
          <a:ln w="15875">
            <a:solidFill>
              <a:srgbClr val="1D6FA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D6FA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34440" y="2322576"/>
            <a:ext cx="7269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Normative assumptions in automation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34440" y="2706624"/>
            <a:ext cx="7269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automate, at what level of autonomy, and with what oversight encodes judgments about efficiency, accountability, and the proper division of human–machine agency.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044952"/>
            <a:ext cx="8046720" cy="10973"/>
          </a:xfrm>
          <a:prstGeom prst="rect">
            <a:avLst/>
          </a:prstGeom>
          <a:solidFill>
            <a:srgbClr val="D8E4EF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0F5FB"/>
          </a:solidFill>
          <a:ln w="15875">
            <a:solidFill>
              <a:srgbClr val="3B9E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3B9ED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34440" y="3099816"/>
            <a:ext cx="7269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Organizational culture, risk &amp; accountability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34440" y="3483864"/>
            <a:ext cx="7269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Institutional incentives and culture shape risk, safety, and accountability as much as the technical design — case experience from NASA, OGC, and IEEE.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822192"/>
            <a:ext cx="8046720" cy="10973"/>
          </a:xfrm>
          <a:prstGeom prst="rect">
            <a:avLst/>
          </a:prstGeom>
          <a:solidFill>
            <a:srgbClr val="D8E4EF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3886200"/>
            <a:ext cx="502920" cy="502920"/>
          </a:xfrm>
          <a:prstGeom prst="ellipse">
            <a:avLst/>
          </a:prstGeom>
          <a:solidFill>
            <a:srgbClr val="F0F5FB"/>
          </a:solidFill>
          <a:ln w="15875">
            <a:solidFill>
              <a:srgbClr val="0818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818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234440" y="3877056"/>
            <a:ext cx="7269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IEEE 2874 Spatial Web &amp; IEEE AI standards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34440" y="4261104"/>
            <a:ext cx="7269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Socio-technical methods have already been applied in IEEE 2874 (approved 2025) and other IEEE AI standards — outcomes governing AI systems at global scale.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4599432"/>
            <a:ext cx="8046720" cy="10973"/>
          </a:xfrm>
          <a:prstGeom prst="rect">
            <a:avLst/>
          </a:prstGeom>
          <a:solidFill>
            <a:srgbClr val="D8E4EF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823460"/>
            <a:ext cx="9144000" cy="10973"/>
          </a:xfrm>
          <a:prstGeom prst="rect">
            <a:avLst/>
          </a:prstGeom>
          <a:solidFill>
            <a:srgbClr val="D8E4EF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485089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Philosophy must inform socio-technical systems engineering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0" y="485089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fPET 2026  ·  G. Percivall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485089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6B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41148"/>
          </a:xfrm>
          <a:prstGeom prst="rect">
            <a:avLst/>
          </a:prstGeom>
          <a:solidFill>
            <a:srgbClr val="081840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0" y="0"/>
            <a:ext cx="2286000" cy="41148"/>
          </a:xfrm>
          <a:prstGeom prst="rect">
            <a:avLst/>
          </a:prstGeom>
          <a:solidFill>
            <a:srgbClr val="0D6B7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0" y="0"/>
            <a:ext cx="2286000" cy="41148"/>
          </a:xfrm>
          <a:prstGeom prst="rect">
            <a:avLst/>
          </a:prstGeom>
          <a:solidFill>
            <a:srgbClr val="3B9EDD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0" y="0"/>
            <a:ext cx="1143000" cy="41148"/>
          </a:xfrm>
          <a:prstGeom prst="rect">
            <a:avLst/>
          </a:prstGeom>
          <a:solidFill>
            <a:srgbClr val="1D6FA4"/>
          </a:solidFill>
          <a:ln/>
        </p:spPr>
      </p:sp>
      <p:sp>
        <p:nvSpPr>
          <p:cNvPr id="6" name="Shape 4"/>
          <p:cNvSpPr/>
          <p:nvPr/>
        </p:nvSpPr>
        <p:spPr>
          <a:xfrm>
            <a:off x="8001000" y="0"/>
            <a:ext cx="1143000" cy="41148"/>
          </a:xfrm>
          <a:prstGeom prst="rect">
            <a:avLst/>
          </a:prstGeom>
          <a:solidFill>
            <a:srgbClr val="08184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743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0D6B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5029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818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Philosophy for engineering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548640" y="1188720"/>
            <a:ext cx="54864" cy="713232"/>
          </a:xfrm>
          <a:prstGeom prst="rect">
            <a:avLst/>
          </a:prstGeom>
          <a:solidFill>
            <a:srgbClr val="0D6B7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1430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818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“Engineering is inherently a philosophical enterprise — explicit philosophical engagement is indispensable for responsible socio-technical engineering.”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103120"/>
            <a:ext cx="393192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  <a:effectLst>
            <a:outerShdw sx="100000" sy="100000" kx="0" ky="0" algn="bl" rotWithShape="0" blurRad="127000" dist="25400" dir="5400000">
              <a:srgbClr val="08184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103120"/>
            <a:ext cx="54864" cy="1207008"/>
          </a:xfrm>
          <a:prstGeom prst="rect">
            <a:avLst/>
          </a:prstGeom>
          <a:solidFill>
            <a:srgbClr val="0D6B78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22677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D6B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◇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261872" y="226771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Epistemology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9808" y="2743200"/>
            <a:ext cx="35478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systems represent, validate, and share knowledge. Governs requirements, AI belief formation, and handling of uncertainty — increasingly safety-critical as systems grow opaque.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45152" y="2103120"/>
            <a:ext cx="393192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  <a:effectLst>
            <a:outerShdw sx="100000" sy="100000" kx="0" ky="0" algn="bl" rotWithShape="0" blurRad="127000" dist="25400" dir="5400000">
              <a:srgbClr val="08184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45152" y="2103120"/>
            <a:ext cx="54864" cy="1207008"/>
          </a:xfrm>
          <a:prstGeom prst="rect">
            <a:avLst/>
          </a:prstGeom>
          <a:solidFill>
            <a:srgbClr val="1D6FA4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22677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D6FA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▢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358384" y="226771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743200"/>
            <a:ext cx="35478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normative discipline, not merely a technical one. Architectural choices embed assumptions about value, priority, and purpose that warrant explicit scrutiny.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474720"/>
            <a:ext cx="393192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  <a:effectLst>
            <a:outerShdw sx="100000" sy="100000" kx="0" ky="0" algn="bl" rotWithShape="0" blurRad="127000" dist="25400" dir="5400000">
              <a:srgbClr val="08184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3474720"/>
            <a:ext cx="54864" cy="1207008"/>
          </a:xfrm>
          <a:prstGeom prst="rect">
            <a:avLst/>
          </a:prstGeom>
          <a:solidFill>
            <a:srgbClr val="3B9EDD"/>
          </a:solidFill>
          <a:ln/>
        </p:spPr>
      </p:sp>
      <p:sp>
        <p:nvSpPr>
          <p:cNvPr id="23" name="Text 21"/>
          <p:cNvSpPr/>
          <p:nvPr/>
        </p:nvSpPr>
        <p:spPr>
          <a:xfrm>
            <a:off x="749808" y="36393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3B9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◯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261872" y="363931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Ontology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49808" y="4114800"/>
            <a:ext cx="35478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exists and how we categorize it. Ontological commitments in standards — spatial web, AI agents — shape what can be represented, shared, and governed.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45152" y="3474720"/>
            <a:ext cx="393192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  <a:effectLst>
            <a:outerShdw sx="100000" sy="100000" kx="0" ky="0" algn="bl" rotWithShape="0" blurRad="127000" dist="25400" dir="5400000">
              <a:srgbClr val="08184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45152" y="3474720"/>
            <a:ext cx="54864" cy="1207008"/>
          </a:xfrm>
          <a:prstGeom prst="rect">
            <a:avLst/>
          </a:prstGeom>
          <a:solidFill>
            <a:srgbClr val="081840"/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36393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△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358384" y="363931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Ethics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846320" y="4114800"/>
            <a:ext cx="35478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Integral, not appended. Engineers exercise tacit power in shaping infrastructure; making that power visible takes sustained moral-philosophy practice.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0" y="4823460"/>
            <a:ext cx="9144000" cy="10973"/>
          </a:xfrm>
          <a:prstGeom prst="rect">
            <a:avLst/>
          </a:prstGeom>
          <a:solidFill>
            <a:srgbClr val="D8E4EF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85089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Philosophy must inform socio-technical systems engineering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943600" y="485089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fPET 2026  ·  G. Percivall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5089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6B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41148"/>
          </a:xfrm>
          <a:prstGeom prst="rect">
            <a:avLst/>
          </a:prstGeom>
          <a:solidFill>
            <a:srgbClr val="081840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0" y="0"/>
            <a:ext cx="2286000" cy="41148"/>
          </a:xfrm>
          <a:prstGeom prst="rect">
            <a:avLst/>
          </a:prstGeom>
          <a:solidFill>
            <a:srgbClr val="0D6B7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0" y="0"/>
            <a:ext cx="2286000" cy="41148"/>
          </a:xfrm>
          <a:prstGeom prst="rect">
            <a:avLst/>
          </a:prstGeom>
          <a:solidFill>
            <a:srgbClr val="3B9EDD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0" y="0"/>
            <a:ext cx="1143000" cy="41148"/>
          </a:xfrm>
          <a:prstGeom prst="rect">
            <a:avLst/>
          </a:prstGeom>
          <a:solidFill>
            <a:srgbClr val="1D6FA4"/>
          </a:solidFill>
          <a:ln/>
        </p:spPr>
      </p:sp>
      <p:sp>
        <p:nvSpPr>
          <p:cNvPr id="6" name="Shape 4"/>
          <p:cNvSpPr/>
          <p:nvPr/>
        </p:nvSpPr>
        <p:spPr>
          <a:xfrm>
            <a:off x="8001000" y="0"/>
            <a:ext cx="1143000" cy="41148"/>
          </a:xfrm>
          <a:prstGeom prst="rect">
            <a:avLst/>
          </a:prstGeom>
          <a:solidFill>
            <a:srgbClr val="08184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743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0D6B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INQUIRY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5029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818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Engineering meets philosophy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1143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D6B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Reviving the tradition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0D6B78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1508760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"philosopher-builder"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77240" y="1819656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older claim revived: builders of complex artifacts owe philosophical accounts of what they build, not merely the working artifact.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587752"/>
            <a:ext cx="128016" cy="128016"/>
          </a:xfrm>
          <a:prstGeom prst="ellipse">
            <a:avLst/>
          </a:prstGeom>
          <a:solidFill>
            <a:srgbClr val="0D6B78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468880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"Engineers should study philosophy"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77240" y="2779776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norm worth rehabilitating in an era of opaque, autonomous systems whose effects exceed any single discipline.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547872"/>
            <a:ext cx="128016" cy="128016"/>
          </a:xfrm>
          <a:prstGeom prst="ellipse">
            <a:avLst/>
          </a:prstGeom>
          <a:solidFill>
            <a:srgbClr val="0D6B78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429000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fPET as sustained conversation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3739896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forum has long modeled the cross-disciplinary engagement needed to move beyond superficial ethics in engineering.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83480" y="1097280"/>
            <a:ext cx="361188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  <a:effectLst>
            <a:outerShdw sx="100000" sy="100000" kx="0" ky="0" algn="bl" rotWithShape="0" blurRad="177800" dist="38100" dir="5400000">
              <a:srgbClr val="08184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83480" y="1097280"/>
            <a:ext cx="3611880" cy="54864"/>
          </a:xfrm>
          <a:prstGeom prst="rect">
            <a:avLst/>
          </a:prstGeom>
          <a:solidFill>
            <a:srgbClr val="5ECFDB"/>
          </a:solidFill>
          <a:ln/>
        </p:spPr>
      </p:sp>
      <p:sp>
        <p:nvSpPr>
          <p:cNvPr id="21" name="Text 19"/>
          <p:cNvSpPr/>
          <p:nvPr/>
        </p:nvSpPr>
        <p:spPr>
          <a:xfrm>
            <a:off x="5257800" y="126187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D6B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WORK MEETS PRACTICE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257800" y="15361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18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Standards, refined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257800" y="201168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systems &amp; software engineering standards codified large cyber-physical practice — but need refinement for software-centric, data-intensive, society-shaping products.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40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traditions in synthesis: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30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IEEE — rigorous, consensus-driven engineering standards.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St. John's College — primary-text, seminar-based humanizing inquiry.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Combined: explicit philosophical inquiry inside engineering workflows.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0" y="4823460"/>
            <a:ext cx="9144000" cy="10973"/>
          </a:xfrm>
          <a:prstGeom prst="rect">
            <a:avLst/>
          </a:prstGeom>
          <a:solidFill>
            <a:srgbClr val="D8E4EF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85089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Philosophy must inform socio-technical systems engineering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943600" y="485089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fPET 2026  ·  G. Percivall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485089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6B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41148"/>
          </a:xfrm>
          <a:prstGeom prst="rect">
            <a:avLst/>
          </a:prstGeom>
          <a:solidFill>
            <a:srgbClr val="081840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0" y="0"/>
            <a:ext cx="2286000" cy="41148"/>
          </a:xfrm>
          <a:prstGeom prst="rect">
            <a:avLst/>
          </a:prstGeom>
          <a:solidFill>
            <a:srgbClr val="0D6B7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0" y="0"/>
            <a:ext cx="2286000" cy="41148"/>
          </a:xfrm>
          <a:prstGeom prst="rect">
            <a:avLst/>
          </a:prstGeom>
          <a:solidFill>
            <a:srgbClr val="3B9EDD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0" y="0"/>
            <a:ext cx="1143000" cy="41148"/>
          </a:xfrm>
          <a:prstGeom prst="rect">
            <a:avLst/>
          </a:prstGeom>
          <a:solidFill>
            <a:srgbClr val="1D6FA4"/>
          </a:solidFill>
          <a:ln/>
        </p:spPr>
      </p:sp>
      <p:sp>
        <p:nvSpPr>
          <p:cNvPr id="6" name="Shape 4"/>
          <p:cNvSpPr/>
          <p:nvPr/>
        </p:nvSpPr>
        <p:spPr>
          <a:xfrm>
            <a:off x="8001000" y="0"/>
            <a:ext cx="1143000" cy="41148"/>
          </a:xfrm>
          <a:prstGeom prst="rect">
            <a:avLst/>
          </a:prstGeom>
          <a:solidFill>
            <a:srgbClr val="08184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743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0D6B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STAKEHOLDERS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818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Engineers address stakeholder concerns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298448"/>
            <a:ext cx="54864" cy="713232"/>
          </a:xfrm>
          <a:prstGeom prst="rect">
            <a:avLst/>
          </a:prstGeom>
          <a:solidFill>
            <a:srgbClr val="1D6FA4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252728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818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As systems grow more interdependent and less explainable, traditional methods are no longer sufficient. Stakeholder concerns must be made integral to design, assurance, and governance.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194560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  <a:effectLst>
            <a:outerShdw sx="100000" sy="100000" kx="0" ky="0" algn="bl" rotWithShape="0" blurRad="127000" dist="25400" dir="5400000">
              <a:srgbClr val="08184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194560"/>
            <a:ext cx="54864" cy="1188720"/>
          </a:xfrm>
          <a:prstGeom prst="rect">
            <a:avLst/>
          </a:prstGeom>
          <a:solidFill>
            <a:srgbClr val="0D6B78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235915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D6B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§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261872" y="235915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Responsibility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9808" y="2834640"/>
            <a:ext cx="3547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is accountable when complex, partly-autonomous systems act in the world? The locus of responsibility is now an engineering question — to be answered at the design stage.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26864" y="2194560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  <a:effectLst>
            <a:outerShdw sx="100000" sy="100000" kx="0" ky="0" algn="bl" rotWithShape="0" blurRad="127000" dist="25400" dir="5400000">
              <a:srgbClr val="08184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26864" y="2194560"/>
            <a:ext cx="54864" cy="1188720"/>
          </a:xfrm>
          <a:prstGeom prst="rect">
            <a:avLst/>
          </a:prstGeom>
          <a:solidFill>
            <a:srgbClr val="1D6FA4"/>
          </a:solidFill>
          <a:ln/>
        </p:spPr>
      </p:sp>
      <p:sp>
        <p:nvSpPr>
          <p:cNvPr id="18" name="Text 16"/>
          <p:cNvSpPr/>
          <p:nvPr/>
        </p:nvSpPr>
        <p:spPr>
          <a:xfrm>
            <a:off x="4828032" y="235915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D6FA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Α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340096" y="235915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Authority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28032" y="2834640"/>
            <a:ext cx="3547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is empowered to decide what these systems do — operators, designers, regulators, the public? Authority structures must be built into the system, not bolted on after.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529584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  <a:effectLst>
            <a:outerShdw sx="100000" sy="100000" kx="0" ky="0" algn="bl" rotWithShape="0" blurRad="127000" dist="25400" dir="5400000">
              <a:srgbClr val="08184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3529584"/>
            <a:ext cx="54864" cy="1188720"/>
          </a:xfrm>
          <a:prstGeom prst="rect">
            <a:avLst/>
          </a:prstGeom>
          <a:solidFill>
            <a:srgbClr val="3B9EDD"/>
          </a:solidFill>
          <a:ln/>
        </p:spPr>
      </p:sp>
      <p:sp>
        <p:nvSpPr>
          <p:cNvPr id="23" name="Text 21"/>
          <p:cNvSpPr/>
          <p:nvPr/>
        </p:nvSpPr>
        <p:spPr>
          <a:xfrm>
            <a:off x="749808" y="3694176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3B9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Μ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261872" y="3694176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Meaning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49808" y="4169664"/>
            <a:ext cx="3547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 these systems mean to the people who use, depend on, or are affected by them? Meaning shapes adoption, trust, and the political life of technology.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26864" y="3529584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  <a:effectLst>
            <a:outerShdw sx="100000" sy="100000" kx="0" ky="0" algn="bl" rotWithShape="0" blurRad="127000" dist="25400" dir="5400000">
              <a:srgbClr val="08184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26864" y="3529584"/>
            <a:ext cx="54864" cy="1188720"/>
          </a:xfrm>
          <a:prstGeom prst="rect">
            <a:avLst/>
          </a:prstGeom>
          <a:solidFill>
            <a:srgbClr val="081840"/>
          </a:solidFill>
          <a:ln/>
        </p:spPr>
      </p:sp>
      <p:sp>
        <p:nvSpPr>
          <p:cNvPr id="28" name="Text 26"/>
          <p:cNvSpPr/>
          <p:nvPr/>
        </p:nvSpPr>
        <p:spPr>
          <a:xfrm>
            <a:off x="4828032" y="3694176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Ω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340096" y="3694176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828032" y="4169664"/>
            <a:ext cx="3547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Whose values are encoded — and whose are erased? Engineering decisions never operate inside a value-vacuum; the question is whether values are explicit or implicit.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0" y="4823460"/>
            <a:ext cx="9144000" cy="10973"/>
          </a:xfrm>
          <a:prstGeom prst="rect">
            <a:avLst/>
          </a:prstGeom>
          <a:solidFill>
            <a:srgbClr val="D8E4EF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85089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Philosophy must inform socio-technical systems engineering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943600" y="485089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fPET 2026  ·  G. Percivall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5089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6B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41148"/>
          </a:xfrm>
          <a:prstGeom prst="rect">
            <a:avLst/>
          </a:prstGeom>
          <a:solidFill>
            <a:srgbClr val="081840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0" y="0"/>
            <a:ext cx="2286000" cy="41148"/>
          </a:xfrm>
          <a:prstGeom prst="rect">
            <a:avLst/>
          </a:prstGeom>
          <a:solidFill>
            <a:srgbClr val="0D6B7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0" y="0"/>
            <a:ext cx="2286000" cy="41148"/>
          </a:xfrm>
          <a:prstGeom prst="rect">
            <a:avLst/>
          </a:prstGeom>
          <a:solidFill>
            <a:srgbClr val="3B9EDD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0" y="0"/>
            <a:ext cx="1143000" cy="41148"/>
          </a:xfrm>
          <a:prstGeom prst="rect">
            <a:avLst/>
          </a:prstGeom>
          <a:solidFill>
            <a:srgbClr val="1D6FA4"/>
          </a:solidFill>
          <a:ln/>
        </p:spPr>
      </p:sp>
      <p:sp>
        <p:nvSpPr>
          <p:cNvPr id="6" name="Shape 4"/>
          <p:cNvSpPr/>
          <p:nvPr/>
        </p:nvSpPr>
        <p:spPr>
          <a:xfrm>
            <a:off x="8001000" y="0"/>
            <a:ext cx="1143000" cy="41148"/>
          </a:xfrm>
          <a:prstGeom prst="rect">
            <a:avLst/>
          </a:prstGeom>
          <a:solidFill>
            <a:srgbClr val="08184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743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0D6B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5029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818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Design: building and being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548640" y="1188720"/>
            <a:ext cx="54864" cy="713232"/>
          </a:xfrm>
          <a:prstGeom prst="rect">
            <a:avLst/>
          </a:prstGeom>
          <a:solidFill>
            <a:srgbClr val="0D6B7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1430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818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Design makes things — and in making, brings forth ways of being. To engineer is already to commit to what shall exist, and how.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103120"/>
            <a:ext cx="388620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  <a:effectLst>
            <a:outerShdw sx="100000" sy="100000" kx="0" ky="0" algn="bl" rotWithShape="0" blurRad="152400" dist="38100" dir="5400000">
              <a:srgbClr val="08184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103120"/>
            <a:ext cx="3886200" cy="54864"/>
          </a:xfrm>
          <a:prstGeom prst="rect">
            <a:avLst/>
          </a:prstGeom>
          <a:solidFill>
            <a:srgbClr val="1D6FA4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26771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1D6FA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TECHNICAL ACT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2960" y="2523744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0818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Building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22960" y="3063240"/>
            <a:ext cx="3337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Specification, architecture, implementation, verification.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engineers do — and have always done — to make things that work, at scale, under constraints.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5A68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Necessary, but not sufficient.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103120"/>
            <a:ext cx="3886200" cy="2606040"/>
          </a:xfrm>
          <a:prstGeom prst="rect">
            <a:avLst/>
          </a:prstGeom>
          <a:solidFill>
            <a:srgbClr val="081840"/>
          </a:solidFill>
          <a:ln w="9525">
            <a:solidFill>
              <a:srgbClr val="081840"/>
            </a:solidFill>
            <a:prstDash val="solid"/>
          </a:ln>
          <a:effectLst>
            <a:outerShdw sx="100000" sy="100000" kx="0" ky="0" algn="bl" rotWithShape="0" blurRad="152400" dist="38100" dir="5400000">
              <a:srgbClr val="08184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103120"/>
            <a:ext cx="3886200" cy="54864"/>
          </a:xfrm>
          <a:prstGeom prst="rect">
            <a:avLst/>
          </a:prstGeom>
          <a:solidFill>
            <a:srgbClr val="5ECFDB"/>
          </a:solidFill>
          <a:ln/>
        </p:spPr>
      </p:sp>
      <p:sp>
        <p:nvSpPr>
          <p:cNvPr id="18" name="Text 16"/>
          <p:cNvSpPr/>
          <p:nvPr/>
        </p:nvSpPr>
        <p:spPr>
          <a:xfrm>
            <a:off x="4983480" y="226771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5ECF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ONTOLOGICAL ACT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983480" y="2523744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Being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983480" y="3063240"/>
            <a:ext cx="3337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9D4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artifact configures a world — what is visible, possible, permitted, and held in common.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C9D4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9D4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Engineering choices encode value, priority, and purpose; they shape how people, institutions, and machines come to be alongside one another.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C9D4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5ECF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build, builds us.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0" y="4823460"/>
            <a:ext cx="9144000" cy="10973"/>
          </a:xfrm>
          <a:prstGeom prst="rect">
            <a:avLst/>
          </a:prstGeom>
          <a:solidFill>
            <a:srgbClr val="D8E4EF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85089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Philosophy must inform socio-technical systems engineering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0" y="485089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fPET 2026  ·  G. Percivall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5089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6B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41148"/>
          </a:xfrm>
          <a:prstGeom prst="rect">
            <a:avLst/>
          </a:prstGeom>
          <a:solidFill>
            <a:srgbClr val="081840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0" y="0"/>
            <a:ext cx="2286000" cy="41148"/>
          </a:xfrm>
          <a:prstGeom prst="rect">
            <a:avLst/>
          </a:prstGeom>
          <a:solidFill>
            <a:srgbClr val="0D6B7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0" y="0"/>
            <a:ext cx="2286000" cy="41148"/>
          </a:xfrm>
          <a:prstGeom prst="rect">
            <a:avLst/>
          </a:prstGeom>
          <a:solidFill>
            <a:srgbClr val="3B9EDD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0" y="0"/>
            <a:ext cx="1143000" cy="41148"/>
          </a:xfrm>
          <a:prstGeom prst="rect">
            <a:avLst/>
          </a:prstGeom>
          <a:solidFill>
            <a:srgbClr val="1D6FA4"/>
          </a:solidFill>
          <a:ln/>
        </p:spPr>
      </p:sp>
      <p:sp>
        <p:nvSpPr>
          <p:cNvPr id="6" name="Shape 4"/>
          <p:cNvSpPr/>
          <p:nvPr/>
        </p:nvSpPr>
        <p:spPr>
          <a:xfrm>
            <a:off x="8001000" y="0"/>
            <a:ext cx="1143000" cy="41148"/>
          </a:xfrm>
          <a:prstGeom prst="rect">
            <a:avLst/>
          </a:prstGeom>
          <a:solidFill>
            <a:srgbClr val="08184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743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0D6B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INNOVATION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5029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818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Innovation and liberty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548640" y="1188720"/>
            <a:ext cx="54864" cy="713232"/>
          </a:xfrm>
          <a:prstGeom prst="rect">
            <a:avLst/>
          </a:prstGeom>
          <a:solidFill>
            <a:srgbClr val="3B9EDD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1430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818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Innovation expands what is possible — and quietly configures what is permissible. Engineering is the arena in which liberty is enacted, or foreclosed.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10312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  <a:effectLst>
            <a:outerShdw sx="100000" sy="100000" kx="0" ky="0" algn="bl" rotWithShape="0" blurRad="127000" dist="25400" dir="5400000">
              <a:srgbClr val="08184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103120"/>
            <a:ext cx="2560320" cy="54864"/>
          </a:xfrm>
          <a:prstGeom prst="rect">
            <a:avLst/>
          </a:prstGeom>
          <a:solidFill>
            <a:srgbClr val="0D6B78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2860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D6B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STAGE 01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2560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818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Innovation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77240" y="310896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capabilities open a possibility-space — products, agents, infrastructures that did not exist before.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145536" y="29260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ECFD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›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3291840" y="210312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  <a:effectLst>
            <a:outerShdw sx="100000" sy="100000" kx="0" ky="0" algn="bl" rotWithShape="0" blurRad="127000" dist="25400" dir="5400000">
              <a:srgbClr val="08184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0" y="2103120"/>
            <a:ext cx="2560320" cy="54864"/>
          </a:xfrm>
          <a:prstGeom prst="rect">
            <a:avLst/>
          </a:prstGeom>
          <a:solidFill>
            <a:srgbClr val="1D6FA4"/>
          </a:solidFill>
          <a:ln/>
        </p:spPr>
      </p:sp>
      <p:sp>
        <p:nvSpPr>
          <p:cNvPr id="19" name="Text 17"/>
          <p:cNvSpPr/>
          <p:nvPr/>
        </p:nvSpPr>
        <p:spPr>
          <a:xfrm>
            <a:off x="3520440" y="22860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D6FA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STAGE 02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520440" y="2560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818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Maturation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520440" y="310896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Standards convene the field, settle interfaces, establish trust — innovation becomes durable, shareable practice.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888736" y="29260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ECFD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›</a:t>
            </a:r>
            <a:endParaRPr lang="en-US" sz="3600" dirty="0"/>
          </a:p>
        </p:txBody>
      </p:sp>
      <p:sp>
        <p:nvSpPr>
          <p:cNvPr id="23" name="Shape 21"/>
          <p:cNvSpPr/>
          <p:nvPr/>
        </p:nvSpPr>
        <p:spPr>
          <a:xfrm>
            <a:off x="6035040" y="210312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  <a:effectLst>
            <a:outerShdw sx="100000" sy="100000" kx="0" ky="0" algn="bl" rotWithShape="0" blurRad="127000" dist="25400" dir="5400000">
              <a:srgbClr val="08184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035040" y="2103120"/>
            <a:ext cx="2560320" cy="54864"/>
          </a:xfrm>
          <a:prstGeom prst="rect">
            <a:avLst/>
          </a:prstGeom>
          <a:solidFill>
            <a:srgbClr val="081840"/>
          </a:solidFill>
          <a:ln/>
        </p:spPr>
      </p:sp>
      <p:sp>
        <p:nvSpPr>
          <p:cNvPr id="25" name="Text 23"/>
          <p:cNvSpPr/>
          <p:nvPr/>
        </p:nvSpPr>
        <p:spPr>
          <a:xfrm>
            <a:off x="6263640" y="22860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STAGE 03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263640" y="2560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818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Liberty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263640" y="310896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Mature standards configure the freedoms people actually have: what they can do, refuse, contest, repair, replace.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43434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8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"Most successful innovators of the digital age cared about, and deeply understood, the engineering and design."  — via Isaacson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23460"/>
            <a:ext cx="9144000" cy="10973"/>
          </a:xfrm>
          <a:prstGeom prst="rect">
            <a:avLst/>
          </a:prstGeom>
          <a:solidFill>
            <a:srgbClr val="D8E4EF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485089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Philosophy must inform socio-technical systems engineering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943600" y="485089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fPET 2026  ·  G. Percivall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29600" y="485089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6B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41148"/>
          </a:xfrm>
          <a:prstGeom prst="rect">
            <a:avLst/>
          </a:prstGeom>
          <a:solidFill>
            <a:srgbClr val="081840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0" y="0"/>
            <a:ext cx="2286000" cy="41148"/>
          </a:xfrm>
          <a:prstGeom prst="rect">
            <a:avLst/>
          </a:prstGeom>
          <a:solidFill>
            <a:srgbClr val="0D6B7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0" y="0"/>
            <a:ext cx="2286000" cy="41148"/>
          </a:xfrm>
          <a:prstGeom prst="rect">
            <a:avLst/>
          </a:prstGeom>
          <a:solidFill>
            <a:srgbClr val="3B9EDD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0" y="0"/>
            <a:ext cx="1143000" cy="41148"/>
          </a:xfrm>
          <a:prstGeom prst="rect">
            <a:avLst/>
          </a:prstGeom>
          <a:solidFill>
            <a:srgbClr val="1D6FA4"/>
          </a:solidFill>
          <a:ln/>
        </p:spPr>
      </p:sp>
      <p:sp>
        <p:nvSpPr>
          <p:cNvPr id="6" name="Shape 4"/>
          <p:cNvSpPr/>
          <p:nvPr/>
        </p:nvSpPr>
        <p:spPr>
          <a:xfrm>
            <a:off x="8001000" y="0"/>
            <a:ext cx="1143000" cy="41148"/>
          </a:xfrm>
          <a:prstGeom prst="rect">
            <a:avLst/>
          </a:prstGeom>
          <a:solidFill>
            <a:srgbClr val="08184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743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0D6B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AGENCY &amp; EPISTEMOLOGY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5029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818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Being-there of artificial agents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548640" y="1188720"/>
            <a:ext cx="54864" cy="713232"/>
          </a:xfrm>
          <a:prstGeom prst="rect">
            <a:avLst/>
          </a:prstGeom>
          <a:solidFill>
            <a:srgbClr val="0D6B7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1430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818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Artificial agents do not merely process inputs — they take up a stance toward a world. Their being-there must be designed, not assumed.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103120"/>
            <a:ext cx="393192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  <a:effectLst>
            <a:outerShdw sx="100000" sy="100000" kx="0" ky="0" algn="bl" rotWithShape="0" blurRad="127000" dist="25400" dir="5400000">
              <a:srgbClr val="08184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103120"/>
            <a:ext cx="54864" cy="1207008"/>
          </a:xfrm>
          <a:prstGeom prst="rect">
            <a:avLst/>
          </a:prstGeom>
          <a:solidFill>
            <a:srgbClr val="0D6B78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22677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D6B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◐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261872" y="226771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World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9808" y="2743200"/>
            <a:ext cx="35478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agent's perceptual model — partial, projective, and never complete. Engineering must specify how the agent's world is constructed and constrained.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45152" y="2103120"/>
            <a:ext cx="393192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  <a:effectLst>
            <a:outerShdw sx="100000" sy="100000" kx="0" ky="0" algn="bl" rotWithShape="0" blurRad="127000" dist="25400" dir="5400000">
              <a:srgbClr val="08184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45152" y="2103120"/>
            <a:ext cx="54864" cy="1207008"/>
          </a:xfrm>
          <a:prstGeom prst="rect">
            <a:avLst/>
          </a:prstGeom>
          <a:solidFill>
            <a:srgbClr val="1D6FA4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22677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D6FA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↔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358384" y="226771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Other agents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743200"/>
            <a:ext cx="35478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Multi-agent ecosystems propagate beliefs through structure. Social epistemology has its own norms, independent of individual epistemology.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474720"/>
            <a:ext cx="393192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  <a:effectLst>
            <a:outerShdw sx="100000" sy="100000" kx="0" ky="0" algn="bl" rotWithShape="0" blurRad="127000" dist="25400" dir="5400000">
              <a:srgbClr val="08184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3474720"/>
            <a:ext cx="54864" cy="1207008"/>
          </a:xfrm>
          <a:prstGeom prst="rect">
            <a:avLst/>
          </a:prstGeom>
          <a:solidFill>
            <a:srgbClr val="3B9EDD"/>
          </a:solidFill>
          <a:ln/>
        </p:spPr>
      </p:sp>
      <p:sp>
        <p:nvSpPr>
          <p:cNvPr id="23" name="Text 21"/>
          <p:cNvSpPr/>
          <p:nvPr/>
        </p:nvSpPr>
        <p:spPr>
          <a:xfrm>
            <a:off x="749808" y="36393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3B9E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◉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261872" y="363931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49808" y="4114800"/>
            <a:ext cx="35478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agent treats as its own — goals, memory, identity over time. Self-modeling is now a design parameter, not a metaphor.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45152" y="3474720"/>
            <a:ext cx="393192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  <a:effectLst>
            <a:outerShdw sx="100000" sy="100000" kx="0" ky="0" algn="bl" rotWithShape="0" blurRad="127000" dist="25400" dir="5400000">
              <a:srgbClr val="08184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45152" y="3474720"/>
            <a:ext cx="54864" cy="1207008"/>
          </a:xfrm>
          <a:prstGeom prst="rect">
            <a:avLst/>
          </a:prstGeom>
          <a:solidFill>
            <a:srgbClr val="081840"/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36393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358384" y="363931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818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846320" y="4114800"/>
            <a:ext cx="35478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A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agent's acts feed back into the world that constituted it. Tomasello's evolutionary typology gives a rigorous, non-binary frame for AI agency.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0" y="4823460"/>
            <a:ext cx="9144000" cy="10973"/>
          </a:xfrm>
          <a:prstGeom prst="rect">
            <a:avLst/>
          </a:prstGeom>
          <a:solidFill>
            <a:srgbClr val="D8E4EF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85089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Philosophy must inform socio-technical systems engineering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943600" y="485089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8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fPET 2026  ·  G. Percivall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5089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6B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8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548640"/>
            <a:ext cx="4572000" cy="4572000"/>
          </a:xfrm>
          <a:prstGeom prst="ellipse">
            <a:avLst/>
          </a:prstGeom>
          <a:solidFill>
            <a:srgbClr val="0D6B78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3200400"/>
            <a:ext cx="3657600" cy="2743200"/>
          </a:xfrm>
          <a:prstGeom prst="ellipse">
            <a:avLst/>
          </a:prstGeom>
          <a:solidFill>
            <a:srgbClr val="1D6FA4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114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ECF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SOCIAL DIMENSION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Engineering </a:t>
            </a:r>
            <a:pPr indent="0" marL="0">
              <a:buNone/>
            </a:pPr>
            <a:r>
              <a:rPr lang="en-US" sz="3000" b="1" i="1" dirty="0">
                <a:solidFill>
                  <a:srgbClr val="5ECFD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society's </a:t>
            </a:r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critical systems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864" cy="1188720"/>
          </a:xfrm>
          <a:prstGeom prst="rect">
            <a:avLst/>
          </a:prstGeom>
          <a:solidFill>
            <a:srgbClr val="5ECFD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4592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EAF2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“Making the tacit power of engineers visible — and philosophy systematic in the workflows, standards, and governance of engineering practice.”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9260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ECF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G. Percivall, fPET 2026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3291840"/>
            <a:ext cx="987552" cy="256032"/>
          </a:xfrm>
          <a:prstGeom prst="rect">
            <a:avLst/>
          </a:prstGeom>
          <a:solidFill>
            <a:srgbClr val="FFFFFF">
              <a:alpha val="10000"/>
            </a:srgbClr>
          </a:solidFill>
          <a:ln w="6350">
            <a:solidFill>
              <a:srgbClr val="5ECF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291840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CF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Stakeholders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828800" y="3291840"/>
            <a:ext cx="576072" cy="256032"/>
          </a:xfrm>
          <a:prstGeom prst="rect">
            <a:avLst/>
          </a:prstGeom>
          <a:solidFill>
            <a:srgbClr val="FFFFFF">
              <a:alpha val="10000"/>
            </a:srgbClr>
          </a:solidFill>
          <a:ln w="6350">
            <a:solidFill>
              <a:srgbClr val="5ECF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3291840"/>
            <a:ext cx="576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CF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468880" y="3291840"/>
            <a:ext cx="850392" cy="256032"/>
          </a:xfrm>
          <a:prstGeom prst="rect">
            <a:avLst/>
          </a:prstGeom>
          <a:solidFill>
            <a:srgbClr val="FFFFFF">
              <a:alpha val="10000"/>
            </a:srgbClr>
          </a:solidFill>
          <a:ln w="6350">
            <a:solidFill>
              <a:srgbClr val="5ECF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8880" y="3291840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CF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Innovation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383280" y="3291840"/>
            <a:ext cx="576072" cy="256032"/>
          </a:xfrm>
          <a:prstGeom prst="rect">
            <a:avLst/>
          </a:prstGeom>
          <a:solidFill>
            <a:srgbClr val="FFFFFF">
              <a:alpha val="10000"/>
            </a:srgbClr>
          </a:solidFill>
          <a:ln w="6350">
            <a:solidFill>
              <a:srgbClr val="5ECF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0" y="3291840"/>
            <a:ext cx="576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CF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023360" y="3291840"/>
            <a:ext cx="781812" cy="256032"/>
          </a:xfrm>
          <a:prstGeom prst="rect">
            <a:avLst/>
          </a:prstGeom>
          <a:solidFill>
            <a:srgbClr val="FFFFFF">
              <a:alpha val="10000"/>
            </a:srgbClr>
          </a:solidFill>
          <a:ln w="6350">
            <a:solidFill>
              <a:srgbClr val="5ECF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23360" y="3291840"/>
            <a:ext cx="7818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CF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IEEE 2874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77240" y="3639312"/>
            <a:ext cx="850392" cy="256032"/>
          </a:xfrm>
          <a:prstGeom prst="rect">
            <a:avLst/>
          </a:prstGeom>
          <a:solidFill>
            <a:srgbClr val="FFFFFF">
              <a:alpha val="10000"/>
            </a:srgbClr>
          </a:solidFill>
          <a:ln w="6350">
            <a:solidFill>
              <a:srgbClr val="5ECF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3639312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CF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St. John's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029200" y="1645920"/>
            <a:ext cx="3703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recognition to practice.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300" dirty="0">
                <a:solidFill>
                  <a:srgbClr val="C9D4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C9D4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fPET recognizes engineers' tacit power in shaping societal infrastructure. We go further: philosophy must be systematically integrated into engineering workflows, standards, and governance.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C9D4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traditions in synthesis.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300" dirty="0">
                <a:solidFill>
                  <a:srgbClr val="C9D4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C9D4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IEEE rigor + St. John's primary-text inquiry. At work in IEEE 2874, IEEE AI standards, and SJC Graduate Institute seminars on ethical technology and participatory design.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400" dirty="0">
                <a:solidFill>
                  <a:srgbClr val="C9D4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5ECF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invitation to fPET.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300" dirty="0">
                <a:solidFill>
                  <a:srgbClr val="C9D4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C9D4E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framework — robust, practical, responsive — open for discussion.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0" y="4732020"/>
            <a:ext cx="9144000" cy="10973"/>
          </a:xfrm>
          <a:prstGeom prst="rect">
            <a:avLst/>
          </a:prstGeom>
          <a:solidFill>
            <a:srgbClr val="5ECFDB">
              <a:alpha val="4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7960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CF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percivall@ieee.org   ·   gspercivall@sjc.edu   ·   georoundtable.xyz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ECF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Philosophy must inform socio-technical systems engineering</dc:title>
  <dc:subject>fPET 2026 — Track 1: Philosophy of Engineering and Technology</dc:subject>
  <dc:creator>George Percivall</dc:creator>
  <cp:lastModifiedBy>George Percivall</cp:lastModifiedBy>
  <cp:revision>1</cp:revision>
  <dcterms:created xsi:type="dcterms:W3CDTF">2026-04-30T18:59:37Z</dcterms:created>
  <dcterms:modified xsi:type="dcterms:W3CDTF">2026-04-30T18:59:37Z</dcterms:modified>
</cp:coreProperties>
</file>