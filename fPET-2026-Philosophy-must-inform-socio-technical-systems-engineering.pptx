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3" r:id="rId4"/>
    <p:sldId id="272" r:id="rId5"/>
    <p:sldId id="274" r:id="rId6"/>
    <p:sldId id="280" r:id="rId7"/>
    <p:sldId id="276" r:id="rId8"/>
    <p:sldId id="262" r:id="rId9"/>
    <p:sldId id="281" r:id="rId10"/>
    <p:sldId id="263" r:id="rId11"/>
    <p:sldId id="278" r:id="rId12"/>
    <p:sldId id="264" r:id="rId13"/>
    <p:sldId id="260" r:id="rId14"/>
    <p:sldId id="279" r:id="rId15"/>
    <p:sldId id="266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2"/>
    <p:restoredTop sz="71410"/>
  </p:normalViewPr>
  <p:slideViewPr>
    <p:cSldViewPr snapToGrid="0" snapToObjects="1">
      <p:cViewPr varScale="1">
        <p:scale>
          <a:sx n="119" d="100"/>
          <a:sy n="119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406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0D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THEORIES IN IEEE 7000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 ethics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ethics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ethics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7007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ethical_theories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virtuous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deontological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consequentialist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divine_command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Buddhist_ethics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 Ethics Constellations Framework</a:t>
            </a:r>
          </a:p>
          <a:p>
            <a:r>
              <a:rPr lang="en-US" dirty="0"/>
              <a:t>AI ethics constellations Zalabak</a:t>
            </a:r>
          </a:p>
          <a:p>
            <a:r>
              <a:rPr lang="en-US" dirty="0"/>
              <a:t>Universal Values</a:t>
            </a:r>
          </a:p>
          <a:p>
            <a:r>
              <a:rPr lang="en-US" dirty="0"/>
              <a:t>Human Dignity</a:t>
            </a:r>
          </a:p>
          <a:p>
            <a:r>
              <a:rPr lang="en-US" dirty="0"/>
              <a:t>Transparency</a:t>
            </a:r>
          </a:p>
          <a:p>
            <a:r>
              <a:rPr lang="en-US" dirty="0"/>
              <a:t>Child protectionism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AB22F-053B-0A30-21C7-D3D701B8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2A9B6-03DE-6A75-B63C-34F5F67C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68B6C-110A-89E4-C86F-865B88A8B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C44ED-F807-6BB6-9DBE-B96C9B11D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788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hyperlink" Target="https://share.evernote.com/note/e37467df-b356-9ed0-3667-d63c6ce7af6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hare.evernote.com/note/40b038f3-61fb-4177-88eb-630e4a4a9c76" TargetMode="Externa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hyperlink" Target="https://share.evernote.com/note/e37467df-b356-9ed0-3667-d63c6ce7af6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hare.evernote.com/note/40b038f3-61fb-4177-88eb-630e4a4a9c76" TargetMode="Externa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5669280" cy="4754880"/>
          </a:xfrm>
          <a:prstGeom prst="ellipse">
            <a:avLst/>
          </a:prstGeom>
          <a:solidFill>
            <a:srgbClr val="0D6B78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114800" cy="2743200"/>
          </a:xfrm>
          <a:prstGeom prst="ellipse">
            <a:avLst/>
          </a:prstGeom>
          <a:solidFill>
            <a:srgbClr val="1D6FA4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22860"/>
          </a:xfrm>
          <a:prstGeom prst="rect">
            <a:avLst/>
          </a:prstGeom>
          <a:solidFill>
            <a:srgbClr val="5E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fPET 2026  ·  PHILOSOPHY OF ENGINEERING &amp;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 xml:space="preserve">Philosophy must </a:t>
            </a:r>
            <a:br>
              <a:rPr lang="en-US" sz="3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</a:br>
            <a:r>
              <a:rPr lang="en-US" sz="3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 xml:space="preserve">inform </a:t>
            </a:r>
            <a:r>
              <a:rPr lang="en-US" sz="3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</a:rPr>
              <a:t>engineering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657600" cy="109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George Percivall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gspercivall@sjc.edu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Distinguished Engineering Fellow  ·  GeoRoundtable &amp; Spatial Web Foundation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 Candidate  ·  St. John's College, Annapolis  ·  IEEE AISC Officer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2514600" cy="2514600"/>
          </a:xfrm>
          <a:prstGeom prst="ellipse">
            <a:avLst/>
          </a:prstGeom>
          <a:solidFill>
            <a:srgbClr val="0A1F4D"/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eloquent-adoring-thompson/deck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1417320"/>
            <a:ext cx="2331720" cy="2331720"/>
          </a:xfrm>
          <a:prstGeom prst="ellipse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5088636"/>
            <a:ext cx="2286000" cy="54864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286000" y="5088636"/>
            <a:ext cx="2286000" cy="54864"/>
          </a:xfrm>
          <a:prstGeom prst="rect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5088636"/>
            <a:ext cx="2286000" cy="54864"/>
          </a:xfrm>
          <a:prstGeom prst="rect">
            <a:avLst/>
          </a:prstGeom>
          <a:solidFill>
            <a:srgbClr val="3B9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0" y="5088636"/>
            <a:ext cx="1143000" cy="54864"/>
          </a:xfrm>
          <a:prstGeom prst="rect">
            <a:avLst/>
          </a:prstGeom>
          <a:solidFill>
            <a:srgbClr val="1D6F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01000" y="5088636"/>
            <a:ext cx="1143000" cy="54864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300" dirty="0">
                <a:solidFill>
                  <a:srgbClr val="5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4688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must inform socio-technical systems engineering  ·  fPET 2026  ·  G. Percivall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64008" cy="4114800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1014984"/>
            <a:ext cx="475488" cy="475488"/>
          </a:xfrm>
          <a:prstGeom prst="ellipse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1014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0149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in practice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3075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 · Digital Earth · Cyber-physical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1819656"/>
            <a:ext cx="8686800" cy="9144"/>
          </a:xfrm>
          <a:prstGeom prst="rect">
            <a:avLst/>
          </a:prstGeom>
          <a:solidFill>
            <a:srgbClr val="D8E4EF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" y="1929384"/>
            <a:ext cx="475488" cy="47548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19293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 for 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221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philosophy relevant to engineering practice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2734056"/>
            <a:ext cx="8686800" cy="9144"/>
          </a:xfrm>
          <a:prstGeom prst="rect">
            <a:avLst/>
          </a:prstGeom>
          <a:solidFill>
            <a:srgbClr val="D8E4EF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2843784"/>
            <a:ext cx="475488" cy="475488"/>
          </a:xfrm>
          <a:prstGeom prst="ellipse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843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examples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1363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· Design · Innovation · Agency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3648456"/>
            <a:ext cx="8686800" cy="9144"/>
          </a:xfrm>
          <a:prstGeom prst="rect">
            <a:avLst/>
          </a:prstGeom>
          <a:solidFill>
            <a:srgbClr val="D8E4EF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3758184"/>
            <a:ext cx="475488" cy="475488"/>
          </a:xfrm>
          <a:prstGeom prst="ellipse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1168" y="3758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7581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next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0507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the Builder-Philosopher in practice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46451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engineering practice to philosophical foundations  -  and how they may reshape together.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300" dirty="0">
                <a:solidFill>
                  <a:srgbClr val="5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ENGINEERING BASED ON PRACTICE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4688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Decades of Engineering Practice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must inform socio-technical systems engineering  ·  fPET 2026  ·  G. Percivall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64008" cy="4114800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D649DEF-B825-F40E-E724-2460B2FAEAF5}"/>
              </a:ext>
            </a:extLst>
          </p:cNvPr>
          <p:cNvSpPr/>
          <p:nvPr/>
        </p:nvSpPr>
        <p:spPr>
          <a:xfrm>
            <a:off x="630935" y="1179859"/>
            <a:ext cx="5402219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 xml:space="preserve">Systems engineering 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Hughes Aircraft: Satellite and ground systems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 xml:space="preserve">General Motors: commercial </a:t>
            </a:r>
            <a:r>
              <a:rPr lang="en-US" sz="1400" dirty="0" err="1"/>
              <a:t>automobiels</a:t>
            </a:r>
            <a:r>
              <a:rPr lang="en-US" sz="1400" dirty="0"/>
              <a:t>, automated highways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INCOSE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Digital Earth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Satellites, Data Systems, GIS, Spatial Web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NASA, OGC, Spatial Web Foundation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 xml:space="preserve">Questions: Earth or another; Maps are not the territory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Cyber-physical Agents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 xml:space="preserve">Web of physical and cyber: smart cities and </a:t>
            </a:r>
            <a:r>
              <a:rPr lang="en-US" sz="1400" dirty="0" err="1"/>
              <a:t>lIEEE</a:t>
            </a:r>
            <a:r>
              <a:rPr lang="en-US" sz="1400" dirty="0"/>
              <a:t xml:space="preserve"> 2874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Agents in Digital Earth, e.g., cities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 xml:space="preserve">Questions: Ontology and ethical robots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6CC4E5-5463-5A0C-3B06-5E2A519CFAFC}"/>
              </a:ext>
            </a:extLst>
          </p:cNvPr>
          <p:cNvGrpSpPr/>
          <p:nvPr/>
        </p:nvGrpSpPr>
        <p:grpSpPr>
          <a:xfrm>
            <a:off x="6614412" y="2646763"/>
            <a:ext cx="2084832" cy="1708421"/>
            <a:chOff x="6126480" y="1609344"/>
            <a:chExt cx="2084832" cy="19568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A8E8B0-2CA8-F82D-5AE2-C93076B0B287}"/>
                </a:ext>
              </a:extLst>
            </p:cNvPr>
            <p:cNvSpPr/>
            <p:nvPr/>
          </p:nvSpPr>
          <p:spPr>
            <a:xfrm>
              <a:off x="6126480" y="1609344"/>
              <a:ext cx="2084832" cy="1956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A112E7C-FC3A-34EE-F478-5C4FB8386EA1}"/>
                </a:ext>
              </a:extLst>
            </p:cNvPr>
            <p:cNvSpPr/>
            <p:nvPr/>
          </p:nvSpPr>
          <p:spPr>
            <a:xfrm>
              <a:off x="6208776" y="1645920"/>
              <a:ext cx="1828800" cy="1856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Technical Standards</a:t>
              </a:r>
              <a:endParaRPr lang="en-US" sz="14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Stable islands for technology evolution</a:t>
              </a:r>
            </a:p>
            <a:p>
              <a:pPr algn="l"/>
              <a:endParaRPr lang="en-US" sz="14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ISO, IEC, IEEE, OGC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84FB1A5C-01A7-5AAE-0106-73CDDA6911AA}"/>
                </a:ext>
              </a:extLst>
            </p:cNvPr>
            <p:cNvSpPr/>
            <p:nvPr/>
          </p:nvSpPr>
          <p:spPr>
            <a:xfrm>
              <a:off x="6254496" y="3163824"/>
              <a:ext cx="12618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0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CC3251-4359-6B03-3418-0819138B8C9D}"/>
              </a:ext>
            </a:extLst>
          </p:cNvPr>
          <p:cNvGrpSpPr/>
          <p:nvPr/>
        </p:nvGrpSpPr>
        <p:grpSpPr>
          <a:xfrm>
            <a:off x="6625410" y="1140046"/>
            <a:ext cx="2084832" cy="1848251"/>
            <a:chOff x="6126480" y="1609344"/>
            <a:chExt cx="2084832" cy="195681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294661D-A584-7A16-C3F6-1C8283874BB9}"/>
                </a:ext>
              </a:extLst>
            </p:cNvPr>
            <p:cNvSpPr/>
            <p:nvPr/>
          </p:nvSpPr>
          <p:spPr>
            <a:xfrm>
              <a:off x="6126480" y="1609344"/>
              <a:ext cx="2084832" cy="1956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897E0A4C-7C62-4792-D37A-135584A32C88}"/>
                </a:ext>
              </a:extLst>
            </p:cNvPr>
            <p:cNvSpPr/>
            <p:nvPr/>
          </p:nvSpPr>
          <p:spPr>
            <a:xfrm>
              <a:off x="6208776" y="1645920"/>
              <a:ext cx="1828800" cy="1856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Education</a:t>
              </a:r>
              <a:endParaRPr lang="en-US" sz="14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Physics, BS; Electrical Engineering, MS, 1984 – U. Illinois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 xml:space="preserve">St John’s College, MA Liberal Arts - current </a:t>
              </a:r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2AE898BC-5F79-6CFD-BBD2-845DED32DC5E}"/>
                </a:ext>
              </a:extLst>
            </p:cNvPr>
            <p:cNvSpPr/>
            <p:nvPr/>
          </p:nvSpPr>
          <p:spPr>
            <a:xfrm>
              <a:off x="6254496" y="3163824"/>
              <a:ext cx="12618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05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Fora for Philosophy of Engineering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36576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B0C8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Engineers exercise tacit power in shaping infrastructure; making that power visible takes sustained moral-philosophy practice.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4297680" cy="274320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fPET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Thinking through Tech, Mitcham, 1994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Technology? Nightingale 2014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of Engineering &amp; Technology (POET) series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Handbook of Engineering Systems Design, Springer, 2022+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Cosmos Institute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St. John's College Graduate Institute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37760" y="1572768"/>
            <a:ext cx="3931920" cy="274320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47488" y="1572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SOCIETIES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1999129"/>
            <a:ext cx="3794760" cy="258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IEEE Ethically Aligned Design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(7000-series)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IEEE Society on Social Implications of Technology (SSIT)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ACM Special Interest Group on Computers &amp; Society (SIGCAS)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Council on Systems Engineering (INCOSE)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300" dirty="0">
                <a:solidFill>
                  <a:srgbClr val="5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4688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Practices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must inform socio-technical systems engineering  ·  fPET 2026  ·  G. Percivall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82388" y="946673"/>
            <a:ext cx="54864" cy="822960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83C07E-E0F3-7E4D-B7CB-030FCD12A02F}"/>
              </a:ext>
            </a:extLst>
          </p:cNvPr>
          <p:cNvGrpSpPr/>
          <p:nvPr/>
        </p:nvGrpSpPr>
        <p:grpSpPr>
          <a:xfrm>
            <a:off x="457200" y="955638"/>
            <a:ext cx="8686800" cy="822960"/>
            <a:chOff x="228600" y="3931920"/>
            <a:chExt cx="8686800" cy="822960"/>
          </a:xfrm>
        </p:grpSpPr>
        <p:sp>
          <p:nvSpPr>
            <p:cNvPr id="18" name="Shape 16"/>
            <p:cNvSpPr/>
            <p:nvPr/>
          </p:nvSpPr>
          <p:spPr>
            <a:xfrm>
              <a:off x="228600" y="3931920"/>
              <a:ext cx="8686800" cy="822960"/>
            </a:xfrm>
            <a:prstGeom prst="rect">
              <a:avLst/>
            </a:prstGeom>
            <a:solidFill>
              <a:srgbClr val="F0F5FB"/>
            </a:solidFill>
            <a:ln w="12700">
              <a:solidFill>
                <a:srgbClr val="D8E4EF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11480" y="4005072"/>
              <a:ext cx="83210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A3A50"/>
                  </a:solidFill>
                  <a:effectLst/>
                  <a:uLnTx/>
                  <a:uFillTx/>
                  <a:latin typeface="Inter" pitchFamily="34" charset="0"/>
                  <a:ea typeface="Inter" pitchFamily="34" charset="-122"/>
                  <a:cs typeface="+mn-cs"/>
                </a:rPr>
                <a:t xml:space="preserve">Engineers order artifacts toward human flourishing </a:t>
              </a:r>
              <a:b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81840"/>
                  </a:solidFill>
                  <a:effectLst/>
                  <a:uLnTx/>
                  <a:uFillTx/>
                  <a:latin typeface="Playfair Display" pitchFamily="34" charset="0"/>
                  <a:ea typeface="Playfair Display" pitchFamily="34" charset="-122"/>
                  <a:cs typeface="Playfair Display" pitchFamily="34" charset="-120"/>
                </a:rPr>
              </a:br>
              <a:r>
                <a:rPr kumimoji="0" 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81840"/>
                  </a:solidFill>
                  <a:effectLst/>
                  <a:uLnTx/>
                  <a:uFillTx/>
                  <a:latin typeface="Playfair Display" pitchFamily="34" charset="0"/>
                  <a:ea typeface="Playfair Display" pitchFamily="34" charset="-122"/>
                  <a:cs typeface="Playfair Display" pitchFamily="34" charset="-120"/>
                </a:rPr>
                <a:t>- explicit philosophical engagement is indispensable for responsible socio-technical engineering.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A3A5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A3A50"/>
                  </a:solidFill>
                  <a:effectLst/>
                  <a:uLnTx/>
                  <a:uFillTx/>
                  <a:latin typeface="Inter" pitchFamily="34" charset="0"/>
                  <a:ea typeface="Inter" pitchFamily="34" charset="-122"/>
                  <a:cs typeface="Inter" pitchFamily="34" charset="-120"/>
                </a:rPr>
                <a:t>Practices: Stakeholders Concerns; Design; Innovation; Agency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835F0A-5254-F1A1-065A-2D3C436348C2}"/>
              </a:ext>
            </a:extLst>
          </p:cNvPr>
          <p:cNvGrpSpPr/>
          <p:nvPr/>
        </p:nvGrpSpPr>
        <p:grpSpPr>
          <a:xfrm>
            <a:off x="1389185" y="1969477"/>
            <a:ext cx="5899638" cy="2760785"/>
            <a:chOff x="1063869" y="1626577"/>
            <a:chExt cx="6224954" cy="310368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1EC42C0-D0E4-CE9E-B71A-6E2A97C3BA64}"/>
                </a:ext>
              </a:extLst>
            </p:cNvPr>
            <p:cNvSpPr/>
            <p:nvPr/>
          </p:nvSpPr>
          <p:spPr>
            <a:xfrm>
              <a:off x="1063869" y="1626577"/>
              <a:ext cx="6224954" cy="310368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56F4B864-93B2-B664-4A45-AA7BC2352217}"/>
                </a:ext>
              </a:extLst>
            </p:cNvPr>
            <p:cNvSpPr/>
            <p:nvPr/>
          </p:nvSpPr>
          <p:spPr>
            <a:xfrm>
              <a:off x="3310128" y="1792224"/>
              <a:ext cx="1754124" cy="72237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Stakeholder Concerns/Ethics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A427793-A08B-9CA8-FA6C-EDC8251ECB25}"/>
                </a:ext>
              </a:extLst>
            </p:cNvPr>
            <p:cNvSpPr/>
            <p:nvPr/>
          </p:nvSpPr>
          <p:spPr>
            <a:xfrm>
              <a:off x="3310128" y="3618981"/>
              <a:ext cx="1754124" cy="72237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Deploy, Operate, Assess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51ACF3A-7AB9-149A-71DD-DC91F174D5B6}"/>
                </a:ext>
              </a:extLst>
            </p:cNvPr>
            <p:cNvGrpSpPr/>
            <p:nvPr/>
          </p:nvGrpSpPr>
          <p:grpSpPr>
            <a:xfrm>
              <a:off x="1296422" y="2705601"/>
              <a:ext cx="5604250" cy="722376"/>
              <a:chOff x="1380744" y="2668524"/>
              <a:chExt cx="5346192" cy="722376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8EB7BAEC-4669-1895-07EE-2A8D43B0F05C}"/>
                  </a:ext>
                </a:extLst>
              </p:cNvPr>
              <p:cNvSpPr/>
              <p:nvPr/>
            </p:nvSpPr>
            <p:spPr>
              <a:xfrm>
                <a:off x="5053584" y="2668524"/>
                <a:ext cx="1673352" cy="72237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Design and Build</a:t>
                </a: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160B47B7-05D1-CA61-94D7-5A86AE4EEA48}"/>
                  </a:ext>
                </a:extLst>
              </p:cNvPr>
              <p:cNvSpPr/>
              <p:nvPr/>
            </p:nvSpPr>
            <p:spPr>
              <a:xfrm>
                <a:off x="1380744" y="2668524"/>
                <a:ext cx="1673352" cy="72237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Next Gen Technology</a:t>
                </a:r>
              </a:p>
            </p:txBody>
          </p:sp>
        </p:grp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5F57D4D7-2ABC-FD6F-CEAE-C92AF7C7C4B3}"/>
                </a:ext>
              </a:extLst>
            </p:cNvPr>
            <p:cNvCxnSpPr>
              <a:cxnSpLocks/>
              <a:stCxn id="23" idx="3"/>
              <a:endCxn id="31" idx="0"/>
            </p:cNvCxnSpPr>
            <p:nvPr/>
          </p:nvCxnSpPr>
          <p:spPr>
            <a:xfrm>
              <a:off x="5064252" y="2153412"/>
              <a:ext cx="959358" cy="552189"/>
            </a:xfrm>
            <a:prstGeom prst="curved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EA609225-B8CE-0A71-CD9E-772B63402F05}"/>
                </a:ext>
              </a:extLst>
            </p:cNvPr>
            <p:cNvCxnSpPr>
              <a:cxnSpLocks/>
              <a:stCxn id="31" idx="2"/>
              <a:endCxn id="24" idx="3"/>
            </p:cNvCxnSpPr>
            <p:nvPr/>
          </p:nvCxnSpPr>
          <p:spPr>
            <a:xfrm rot="5400000">
              <a:off x="5267835" y="3224394"/>
              <a:ext cx="552192" cy="959358"/>
            </a:xfrm>
            <a:prstGeom prst="curved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C51884DD-850C-D661-03DF-F1578CF07EF6}"/>
                </a:ext>
              </a:extLst>
            </p:cNvPr>
            <p:cNvCxnSpPr>
              <a:cxnSpLocks/>
              <a:stCxn id="23" idx="1"/>
              <a:endCxn id="32" idx="0"/>
            </p:cNvCxnSpPr>
            <p:nvPr/>
          </p:nvCxnSpPr>
          <p:spPr>
            <a:xfrm rot="10800000" flipV="1">
              <a:off x="2173484" y="2153411"/>
              <a:ext cx="1136644" cy="552189"/>
            </a:xfrm>
            <a:prstGeom prst="curved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A17E8949-6A2C-C954-7749-E290DC0C3999}"/>
                </a:ext>
              </a:extLst>
            </p:cNvPr>
            <p:cNvCxnSpPr>
              <a:cxnSpLocks/>
              <a:stCxn id="32" idx="2"/>
              <a:endCxn id="24" idx="1"/>
            </p:cNvCxnSpPr>
            <p:nvPr/>
          </p:nvCxnSpPr>
          <p:spPr>
            <a:xfrm rot="16200000" flipH="1">
              <a:off x="2465710" y="3135751"/>
              <a:ext cx="552192" cy="1136644"/>
            </a:xfrm>
            <a:prstGeom prst="curved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5BB75C6-26E6-F644-0E8F-665F9B3B67AE}"/>
                </a:ext>
              </a:extLst>
            </p:cNvPr>
            <p:cNvSpPr/>
            <p:nvPr/>
          </p:nvSpPr>
          <p:spPr>
            <a:xfrm>
              <a:off x="2579251" y="3750349"/>
              <a:ext cx="3067405" cy="9159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1473484"/>
                </a:avLst>
              </a:prstTxWarp>
              <a:spAutoFit/>
            </a:bodyPr>
            <a:lstStyle/>
            <a:p>
              <a:r>
                <a:rPr lang="en-US" sz="1400" dirty="0"/>
                <a:t>Every phase, fully linked, all at once</a:t>
              </a:r>
            </a:p>
          </p:txBody>
        </p:sp>
      </p:grpSp>
      <p:sp>
        <p:nvSpPr>
          <p:cNvPr id="33" name="Text 8">
            <a:extLst>
              <a:ext uri="{FF2B5EF4-FFF2-40B4-BE49-F238E27FC236}">
                <a16:creationId xmlns:a16="http://schemas.microsoft.com/office/drawing/2014/main" id="{EBD02A12-635B-B0E1-F5A7-716F27DC89B3}"/>
              </a:ext>
            </a:extLst>
          </p:cNvPr>
          <p:cNvSpPr/>
          <p:nvPr/>
        </p:nvSpPr>
        <p:spPr>
          <a:xfrm>
            <a:off x="508643" y="88457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Practice 1  -  Address Stakeholder Concerns &amp; Ethics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36576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669CF90-269F-6479-623B-5C4A59C880F8}"/>
              </a:ext>
            </a:extLst>
          </p:cNvPr>
          <p:cNvSpPr/>
          <p:nvPr/>
        </p:nvSpPr>
        <p:spPr>
          <a:xfrm>
            <a:off x="6573328" y="1301552"/>
            <a:ext cx="2342072" cy="3474720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D279E5AF-768F-F6DD-427A-318DAF70EB95}"/>
              </a:ext>
            </a:extLst>
          </p:cNvPr>
          <p:cNvSpPr/>
          <p:nvPr/>
        </p:nvSpPr>
        <p:spPr>
          <a:xfrm>
            <a:off x="6319712" y="1275673"/>
            <a:ext cx="54864" cy="34747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8D17B407-383E-1712-65DF-D5801895F7FC}"/>
              </a:ext>
            </a:extLst>
          </p:cNvPr>
          <p:cNvSpPr/>
          <p:nvPr/>
        </p:nvSpPr>
        <p:spPr>
          <a:xfrm>
            <a:off x="6978770" y="1383848"/>
            <a:ext cx="1762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EVRs TO TECHNICAL REQUIREMENTS</a:t>
            </a:r>
            <a:endParaRPr lang="en-US" sz="8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80243CFF-E037-D19E-0F8E-2BE70EE6F50F}"/>
              </a:ext>
            </a:extLst>
          </p:cNvPr>
          <p:cNvSpPr/>
          <p:nvPr/>
        </p:nvSpPr>
        <p:spPr>
          <a:xfrm>
            <a:off x="7108166" y="1685600"/>
            <a:ext cx="163349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858EAE9C-9A1B-9EC6-2183-0072A0B31B2B}"/>
              </a:ext>
            </a:extLst>
          </p:cNvPr>
          <p:cNvSpPr/>
          <p:nvPr/>
        </p:nvSpPr>
        <p:spPr>
          <a:xfrm>
            <a:off x="7654045" y="174149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D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</a:t>
            </a:r>
            <a:endParaRPr lang="en-US" sz="7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6D019D70-9FE6-319C-69EC-102F8B927C63}"/>
              </a:ext>
            </a:extLst>
          </p:cNvPr>
          <p:cNvSpPr/>
          <p:nvPr/>
        </p:nvSpPr>
        <p:spPr>
          <a:xfrm>
            <a:off x="7410090" y="1959920"/>
            <a:ext cx="11669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"Privacy of scanned passengers."</a:t>
            </a:r>
            <a:endParaRPr lang="en-US" sz="120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6596EDFB-F6DD-1AE1-B555-F6FA488ECCB5}"/>
              </a:ext>
            </a:extLst>
          </p:cNvPr>
          <p:cNvSpPr/>
          <p:nvPr/>
        </p:nvSpPr>
        <p:spPr>
          <a:xfrm>
            <a:off x="7655078" y="2737160"/>
            <a:ext cx="256032" cy="457200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88F8D3A2-1DAC-96F0-51CE-D148BBD0B6D0}"/>
              </a:ext>
            </a:extLst>
          </p:cNvPr>
          <p:cNvSpPr/>
          <p:nvPr/>
        </p:nvSpPr>
        <p:spPr>
          <a:xfrm>
            <a:off x="7646456" y="2708693"/>
            <a:ext cx="256032" cy="48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30B5E242-1322-940E-F073-B996E8528949}"/>
              </a:ext>
            </a:extLst>
          </p:cNvPr>
          <p:cNvSpPr/>
          <p:nvPr/>
        </p:nvSpPr>
        <p:spPr>
          <a:xfrm>
            <a:off x="6944264" y="3258368"/>
            <a:ext cx="179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3E289305-3820-6D0A-B40C-405CA96BD20E}"/>
              </a:ext>
            </a:extLst>
          </p:cNvPr>
          <p:cNvSpPr/>
          <p:nvPr/>
        </p:nvSpPr>
        <p:spPr>
          <a:xfrm>
            <a:off x="7030528" y="3331519"/>
            <a:ext cx="1546544" cy="20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</a:t>
            </a:r>
            <a:endParaRPr lang="en-US" sz="700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CF233F68-DB1D-C31A-C61B-A04DF7DBD52E}"/>
              </a:ext>
            </a:extLst>
          </p:cNvPr>
          <p:cNvSpPr/>
          <p:nvPr/>
        </p:nvSpPr>
        <p:spPr>
          <a:xfrm>
            <a:off x="7108166" y="3550976"/>
            <a:ext cx="1468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"System shall display images of suspected items on a generic body outline."</a:t>
            </a:r>
            <a:endParaRPr lang="en-US" sz="11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B1E5ECB3-2A39-81C5-9C23-A5B4C61415F6}"/>
              </a:ext>
            </a:extLst>
          </p:cNvPr>
          <p:cNvSpPr/>
          <p:nvPr/>
        </p:nvSpPr>
        <p:spPr>
          <a:xfrm>
            <a:off x="474785" y="1124712"/>
            <a:ext cx="5864469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Stakeholder concerns regarding  responsibility, authority, meaning, and value must be made integral to engineering design, assurance, and governance.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Stakeholder Concerns addressed by engineer</a:t>
            </a: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</a:rPr>
              <a:t>Matters of interest or importance to one or more stakeholders regarding the system of interest. (ISO/IEC/IEEE 42010)</a:t>
            </a: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</a:rPr>
              <a:t>Requirements engineering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Ethically Aligned Design</a:t>
            </a:r>
            <a:endParaRPr lang="en-US" sz="1200" dirty="0">
              <a:solidFill>
                <a:schemeClr val="bg1"/>
              </a:solidFill>
            </a:endParaRP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</a:rPr>
              <a:t xml:space="preserve">Ethics: Branch of knowledge or theory that investigates the correct reasons for thinking that this or that is right. </a:t>
            </a: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</a:rPr>
              <a:t xml:space="preserve">Ethical Value Requirement (EVRs): Stakeholders values relevant for system of interest </a:t>
            </a:r>
            <a:r>
              <a:rPr lang="en-US" sz="1200" b="1" dirty="0">
                <a:solidFill>
                  <a:schemeClr val="bg1"/>
                </a:solidFill>
              </a:rPr>
              <a:t>(</a:t>
            </a:r>
            <a:r>
              <a:rPr lang="en-US" sz="1200" dirty="0">
                <a:solidFill>
                  <a:schemeClr val="bg1"/>
                </a:solidFill>
              </a:rPr>
              <a:t>IEEE 7000)</a:t>
            </a:r>
            <a:endParaRPr lang="en-US" sz="1200" kern="0" dirty="0">
              <a:solidFill>
                <a:schemeClr val="bg1"/>
              </a:solidFill>
            </a:endParaRP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</a:rPr>
              <a:t xml:space="preserve">Ethical Robots ontology </a:t>
            </a:r>
            <a:r>
              <a:rPr lang="en-US" sz="1200" b="1" dirty="0">
                <a:solidFill>
                  <a:schemeClr val="bg1"/>
                </a:solidFill>
              </a:rPr>
              <a:t>(</a:t>
            </a:r>
            <a:r>
              <a:rPr lang="en-US" sz="1200" dirty="0">
                <a:solidFill>
                  <a:schemeClr val="bg1"/>
                </a:solidFill>
              </a:rPr>
              <a:t>IEEE 7007)</a:t>
            </a:r>
            <a:endParaRPr lang="en-US" sz="1200" kern="0" dirty="0">
              <a:solidFill>
                <a:schemeClr val="bg1"/>
              </a:solidFill>
            </a:endParaRP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Identify technical requirements that realize the EVR</a:t>
            </a:r>
            <a:endParaRPr lang="en-US" sz="1200" kern="0" dirty="0">
              <a:solidFill>
                <a:schemeClr val="bg1"/>
              </a:solidFill>
              <a:ea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Prototyping to identify concerns</a:t>
            </a:r>
          </a:p>
          <a:p>
            <a:pPr marL="577850" lvl="1" indent="-2889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Deploy a partially viable product for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300" dirty="0">
                <a:solidFill>
                  <a:srgbClr val="5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4688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2  -  Engineering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must inform socio-technical systems engineering  ·  fPET 2026  ·  G. Percivall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64008" cy="41148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40746" y="877824"/>
            <a:ext cx="2074653" cy="3840480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31191" y="886451"/>
            <a:ext cx="54864" cy="3840480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87396" y="969264"/>
            <a:ext cx="1790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9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PHILOSOPHY FOR DESIGN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86639" y="1307075"/>
            <a:ext cx="475488" cy="475488"/>
          </a:xfrm>
          <a:prstGeom prst="ellipse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86639" y="13070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3567" y="132536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3567" y="1563107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stream of events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86639" y="2084315"/>
            <a:ext cx="475488" cy="47548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86639" y="208431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53567" y="210260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3567" y="2340347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structures emerge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86639" y="2861555"/>
            <a:ext cx="475488" cy="475488"/>
          </a:xfrm>
          <a:prstGeom prst="ellipse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86639" y="286155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53567" y="287984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53567" y="3117587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forms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3703320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64608" y="3749040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as creating order  -  Man's relation to the environment in which he seeks to survive and achieve.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-  H. Simon, 1996</a:t>
            </a:r>
            <a:endParaRPr lang="en-US" sz="9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43D2608A-772C-75EF-DFE5-1729243485FC}"/>
              </a:ext>
            </a:extLst>
          </p:cNvPr>
          <p:cNvSpPr/>
          <p:nvPr/>
        </p:nvSpPr>
        <p:spPr>
          <a:xfrm>
            <a:off x="327631" y="1211015"/>
            <a:ext cx="5394960" cy="350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Ordering belongs to the wise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 xml:space="preserve">Wisdom as “ordering”— Aristotle (Metaphysics I.2)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Aquinas reformulates as “</a:t>
            </a:r>
            <a:r>
              <a:rPr lang="en-US" sz="1400" dirty="0" err="1"/>
              <a:t>sapientis</a:t>
            </a:r>
            <a:r>
              <a:rPr lang="en-US" sz="1400" dirty="0"/>
              <a:t xml:space="preserve"> est </a:t>
            </a:r>
            <a:r>
              <a:rPr lang="en-US" sz="1400" dirty="0" err="1"/>
              <a:t>ordinare</a:t>
            </a:r>
            <a:r>
              <a:rPr lang="en-US" sz="1400" dirty="0"/>
              <a:t>” 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Design as creating order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Man's relation to the environment in which he seeks to survive and achieve (H. Simon, 1996)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Order based on functional analysis and fitness to environment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Unanticipated results: affordances, mediation-Verbeek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Prototyping Versus Specifying- A Multiproject Experiment</a:t>
            </a:r>
            <a:r>
              <a:rPr lang="en-US" dirty="0"/>
              <a:t xml:space="preserve">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spec-kit: spec-Driven Development</a:t>
            </a:r>
            <a:r>
              <a:rPr lang="en-US" dirty="0"/>
              <a:t xml:space="preserve"> 	</a:t>
            </a:r>
            <a:r>
              <a:rPr lang="en-US" sz="1400" dirty="0"/>
              <a:t xml:space="preserve">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Ascribing functions to artefacts, and about the relations between using, designing and ascribing functions (</a:t>
            </a:r>
            <a:r>
              <a:rPr lang="en-US" sz="1400" dirty="0" err="1"/>
              <a:t>Houkes</a:t>
            </a:r>
            <a:r>
              <a:rPr lang="en-US" sz="1400" dirty="0"/>
              <a:t>, Vermaas; POET)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Philosophy for Design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Need for framework that addresses design practice, wise ordering and emergent forms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 xml:space="preserve">Software engineers take </a:t>
            </a:r>
            <a:r>
              <a:rPr lang="en-US" sz="1400" i="1" dirty="0"/>
              <a:t>aesthetic-moral</a:t>
            </a:r>
            <a:r>
              <a:rPr lang="en-US" sz="1400" dirty="0"/>
              <a:t xml:space="preserve"> responsibility for the </a:t>
            </a:r>
            <a:r>
              <a:rPr lang="en-US" sz="1400" i="1" dirty="0"/>
              <a:t>wholeness</a:t>
            </a:r>
            <a:r>
              <a:rPr lang="en-US" sz="1400" dirty="0"/>
              <a:t xml:space="preserve"> of what they build (C. Alexander's OOPSLA 1996)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41148"/>
          </a:xfrm>
          <a:prstGeom prst="rect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2286000" cy="41148"/>
          </a:xfrm>
          <a:prstGeom prst="rect">
            <a:avLst/>
          </a:prstGeom>
          <a:solidFill>
            <a:srgbClr val="3B9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1143000" cy="41148"/>
          </a:xfrm>
          <a:prstGeom prst="rect">
            <a:avLst/>
          </a:prstGeom>
          <a:solidFill>
            <a:srgbClr val="1D6F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1000" y="0"/>
            <a:ext cx="1143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18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Practice 2: Engineering Design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0" y="4823460"/>
            <a:ext cx="9144000" cy="10973"/>
          </a:xfrm>
          <a:prstGeom prst="rect">
            <a:avLst/>
          </a:prstGeom>
          <a:solidFill>
            <a:srgbClr val="D8E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8508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Philosophy must inform socio-technical systems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508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fPET 2026  ·  G. Percivall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508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ED1A78C-A937-0FD3-980C-A92E73FDE110}"/>
              </a:ext>
            </a:extLst>
          </p:cNvPr>
          <p:cNvSpPr/>
          <p:nvPr/>
        </p:nvSpPr>
        <p:spPr>
          <a:xfrm>
            <a:off x="758952" y="1090244"/>
            <a:ext cx="5394960" cy="350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Ordering belongs to the wise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 xml:space="preserve">Wisdom as “ordering”— Aristotle (Metaphysics I.2)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Aquinas reformulates as “</a:t>
            </a:r>
            <a:r>
              <a:rPr lang="en-US" sz="1400" dirty="0" err="1"/>
              <a:t>sapientis</a:t>
            </a:r>
            <a:r>
              <a:rPr lang="en-US" sz="1400" dirty="0"/>
              <a:t xml:space="preserve"> est </a:t>
            </a:r>
            <a:r>
              <a:rPr lang="en-US" sz="1400" dirty="0" err="1"/>
              <a:t>ordinare</a:t>
            </a:r>
            <a:r>
              <a:rPr lang="en-US" sz="1400" dirty="0"/>
              <a:t>” 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Design as creating order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Man's relation to the environment in which he seeks to survive and achieve (H. Simon, 1996)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Order based on functional analysis and fitness to environment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Unanticipated results: affordances, mediation-Verbeek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Prototyping Versus Specifying- A Multiproject Experiment</a:t>
            </a:r>
            <a:r>
              <a:rPr lang="en-US" dirty="0"/>
              <a:t xml:space="preserve">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spec-kit: spec-Driven Development</a:t>
            </a:r>
            <a:r>
              <a:rPr lang="en-US" dirty="0"/>
              <a:t xml:space="preserve"> 	</a:t>
            </a:r>
            <a:r>
              <a:rPr lang="en-US" sz="1400" dirty="0"/>
              <a:t xml:space="preserve">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Ascribing functions to artefacts, and about the relations between using, designing and ascribing functions (</a:t>
            </a:r>
            <a:r>
              <a:rPr lang="en-US" sz="1400" dirty="0" err="1"/>
              <a:t>Houkes</a:t>
            </a:r>
            <a:r>
              <a:rPr lang="en-US" sz="1400" dirty="0"/>
              <a:t>, Vermaas; POET)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Philosophy for Design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Need for framework that addresses design practice, wise ordering and emergent forms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1400" dirty="0"/>
              <a:t xml:space="preserve">Software engineers take </a:t>
            </a:r>
            <a:r>
              <a:rPr lang="en-US" sz="1400" i="1" dirty="0"/>
              <a:t>aesthetic-moral</a:t>
            </a:r>
            <a:r>
              <a:rPr lang="en-US" sz="1400" dirty="0"/>
              <a:t xml:space="preserve"> responsibility for the </a:t>
            </a:r>
            <a:r>
              <a:rPr lang="en-US" sz="1400" i="1" dirty="0"/>
              <a:t>wholeness</a:t>
            </a:r>
            <a:r>
              <a:rPr lang="en-US" sz="1400" dirty="0"/>
              <a:t xml:space="preserve"> of what they build (C. Alexander's OOPSLA 1996)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EE3534-4D8B-22D4-A257-EBD6A0A3F510}"/>
              </a:ext>
            </a:extLst>
          </p:cNvPr>
          <p:cNvGrpSpPr/>
          <p:nvPr/>
        </p:nvGrpSpPr>
        <p:grpSpPr>
          <a:xfrm>
            <a:off x="6699739" y="2764298"/>
            <a:ext cx="1943100" cy="1772529"/>
            <a:chOff x="6126480" y="1609344"/>
            <a:chExt cx="2084832" cy="19568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99DB3B-085E-CF7A-B724-6B43D50C0DD6}"/>
                </a:ext>
              </a:extLst>
            </p:cNvPr>
            <p:cNvSpPr/>
            <p:nvPr/>
          </p:nvSpPr>
          <p:spPr>
            <a:xfrm>
              <a:off x="6126480" y="1609344"/>
              <a:ext cx="2084832" cy="1956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 25">
              <a:extLst>
                <a:ext uri="{FF2B5EF4-FFF2-40B4-BE49-F238E27FC236}">
                  <a16:creationId xmlns:a16="http://schemas.microsoft.com/office/drawing/2014/main" id="{6686B98B-BF43-608E-D912-83A9E9FDF778}"/>
                </a:ext>
              </a:extLst>
            </p:cNvPr>
            <p:cNvSpPr/>
            <p:nvPr/>
          </p:nvSpPr>
          <p:spPr>
            <a:xfrm>
              <a:off x="6208776" y="1645920"/>
              <a:ext cx="1828800" cy="1856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Natural philosophy for Design</a:t>
              </a:r>
            </a:p>
            <a:p>
              <a:pPr marL="122238" indent="-1143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Change: constant stream of events </a:t>
              </a:r>
            </a:p>
            <a:p>
              <a:pPr marL="122238" indent="-1143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Form: persistent structures emerge</a:t>
              </a:r>
            </a:p>
            <a:p>
              <a:pPr marL="122238" indent="-11430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Agency: adaptive forms</a:t>
              </a:r>
            </a:p>
          </p:txBody>
        </p:sp>
        <p:sp>
          <p:nvSpPr>
            <p:cNvPr id="15" name="Text 26">
              <a:extLst>
                <a:ext uri="{FF2B5EF4-FFF2-40B4-BE49-F238E27FC236}">
                  <a16:creationId xmlns:a16="http://schemas.microsoft.com/office/drawing/2014/main" id="{6E88E4C9-1732-9B56-6FC3-C2AE0F1B87ED}"/>
                </a:ext>
              </a:extLst>
            </p:cNvPr>
            <p:cNvSpPr/>
            <p:nvPr/>
          </p:nvSpPr>
          <p:spPr>
            <a:xfrm>
              <a:off x="6254496" y="3163824"/>
              <a:ext cx="12618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05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7CA500-48BE-BD9A-6856-8F23C2CD84EF}"/>
              </a:ext>
            </a:extLst>
          </p:cNvPr>
          <p:cNvGrpSpPr/>
          <p:nvPr/>
        </p:nvGrpSpPr>
        <p:grpSpPr>
          <a:xfrm>
            <a:off x="6676291" y="567120"/>
            <a:ext cx="1948960" cy="1835389"/>
            <a:chOff x="6579578" y="567120"/>
            <a:chExt cx="1948960" cy="183538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F48344-8941-BA69-42A4-CED9A9006EAB}"/>
                </a:ext>
              </a:extLst>
            </p:cNvPr>
            <p:cNvGrpSpPr/>
            <p:nvPr/>
          </p:nvGrpSpPr>
          <p:grpSpPr>
            <a:xfrm>
              <a:off x="6579578" y="567120"/>
              <a:ext cx="1943100" cy="1818527"/>
              <a:chOff x="6126480" y="1558563"/>
              <a:chExt cx="2084832" cy="20075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4BAFAE8-857D-52B7-C9D2-7E1DF8BBA815}"/>
                  </a:ext>
                </a:extLst>
              </p:cNvPr>
              <p:cNvSpPr/>
              <p:nvPr/>
            </p:nvSpPr>
            <p:spPr>
              <a:xfrm>
                <a:off x="6126480" y="1609344"/>
                <a:ext cx="2084832" cy="195681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 25">
                <a:extLst>
                  <a:ext uri="{FF2B5EF4-FFF2-40B4-BE49-F238E27FC236}">
                    <a16:creationId xmlns:a16="http://schemas.microsoft.com/office/drawing/2014/main" id="{070F66E2-C9D1-B698-FC8B-673C7B826101}"/>
                  </a:ext>
                </a:extLst>
              </p:cNvPr>
              <p:cNvSpPr/>
              <p:nvPr/>
            </p:nvSpPr>
            <p:spPr>
              <a:xfrm>
                <a:off x="6179936" y="1558563"/>
                <a:ext cx="2018797" cy="1856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  <a:t xml:space="preserve">Design </a:t>
                </a:r>
                <a:br>
                  <a:rPr lang="en-US" sz="16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</a:br>
                <a:r>
                  <a:rPr lang="en-US" sz="16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  <a:t xml:space="preserve">Methodologies </a:t>
                </a:r>
              </a:p>
              <a:p>
                <a:pPr marL="0" indent="0" algn="ctr">
                  <a:buNone/>
                </a:pPr>
                <a:endParaRPr lang="en-US" sz="1200" b="1" dirty="0">
                  <a:solidFill>
                    <a:schemeClr val="bg1"/>
                  </a:solidFill>
                  <a:latin typeface="+mj-lt"/>
                  <a:ea typeface="Inter" pitchFamily="34" charset="-122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</a:rPr>
                  <a:t>Participative: stakeholder 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</a:rPr>
                  <a:t xml:space="preserve">Normative: </a:t>
                </a: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  <a:t>standards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  <a:t xml:space="preserve">Rational: functional decomposition, natural philosophy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  <a:t>Heuristics</a:t>
                </a:r>
                <a:endParaRPr lang="en-US" sz="105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endParaRPr>
              </a:p>
            </p:txBody>
          </p:sp>
          <p:sp>
            <p:nvSpPr>
              <p:cNvPr id="19" name="Text 26">
                <a:extLst>
                  <a:ext uri="{FF2B5EF4-FFF2-40B4-BE49-F238E27FC236}">
                    <a16:creationId xmlns:a16="http://schemas.microsoft.com/office/drawing/2014/main" id="{0102CBB6-6AFA-6107-351F-D79979451FCE}"/>
                  </a:ext>
                </a:extLst>
              </p:cNvPr>
              <p:cNvSpPr/>
              <p:nvPr/>
            </p:nvSpPr>
            <p:spPr>
              <a:xfrm>
                <a:off x="6254496" y="3163824"/>
                <a:ext cx="1261872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endParaRPr lang="en-US" sz="1050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0E5FDB-2A8E-55DE-E389-A23CC3D1F2D5}"/>
                </a:ext>
              </a:extLst>
            </p:cNvPr>
            <p:cNvSpPr txBox="1"/>
            <p:nvPr/>
          </p:nvSpPr>
          <p:spPr>
            <a:xfrm>
              <a:off x="6699738" y="2140899"/>
              <a:ext cx="18288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(INCOSE/</a:t>
              </a:r>
              <a:r>
                <a:rPr lang="en-US" sz="1050" dirty="0" err="1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Rechtin,Maier</a:t>
              </a:r>
              <a:r>
                <a:rPr lang="en-US" sz="105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59F5E-D5D2-D367-F717-37B56476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2D6E4D-7203-A949-B024-7C542A1030B9}"/>
              </a:ext>
            </a:extLst>
          </p:cNvPr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5E301E-E746-7F7B-1EAB-B208A6BABEB0}"/>
              </a:ext>
            </a:extLst>
          </p:cNvPr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733DE9-A273-5A04-D731-1F409C53D1CE}"/>
              </a:ext>
            </a:extLst>
          </p:cNvPr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CBAAD4-7955-6985-9337-FE1953564554}"/>
              </a:ext>
            </a:extLst>
          </p:cNvPr>
          <p:cNvSpPr/>
          <p:nvPr/>
        </p:nvSpPr>
        <p:spPr>
          <a:xfrm>
            <a:off x="457200" y="228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AAEDF2-A5E0-D4F4-1C70-2E7B4A348E11}"/>
              </a:ext>
            </a:extLst>
          </p:cNvPr>
          <p:cNvSpPr/>
          <p:nvPr/>
        </p:nvSpPr>
        <p:spPr>
          <a:xfrm>
            <a:off x="45720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Practice 3  -  Liberty and Constraints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C77240E-8785-0249-E715-11F6050A5024}"/>
              </a:ext>
            </a:extLst>
          </p:cNvPr>
          <p:cNvSpPr/>
          <p:nvPr/>
        </p:nvSpPr>
        <p:spPr>
          <a:xfrm>
            <a:off x="457200" y="1024128"/>
            <a:ext cx="914400" cy="36576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D070CD-5CC1-1C49-AAE6-CB667EEE13BB}"/>
              </a:ext>
            </a:extLst>
          </p:cNvPr>
          <p:cNvSpPr/>
          <p:nvPr/>
        </p:nvSpPr>
        <p:spPr>
          <a:xfrm>
            <a:off x="45720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B0C8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 between innovation and constraint is one of the defining features of the current AI moment.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41D985-E61B-C4A1-9EE3-8FFD83BA81B6}"/>
              </a:ext>
            </a:extLst>
          </p:cNvPr>
          <p:cNvSpPr/>
          <p:nvPr/>
        </p:nvSpPr>
        <p:spPr>
          <a:xfrm>
            <a:off x="457200" y="1572768"/>
            <a:ext cx="4069080" cy="155448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2DEE932-CCD3-639E-D88B-DD38BD1EA775}"/>
              </a:ext>
            </a:extLst>
          </p:cNvPr>
          <p:cNvSpPr/>
          <p:nvPr/>
        </p:nvSpPr>
        <p:spPr>
          <a:xfrm>
            <a:off x="457200" y="1572768"/>
            <a:ext cx="54864" cy="1554480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1456F46-2520-91B8-25AE-3C7457E26EA6}"/>
              </a:ext>
            </a:extLst>
          </p:cNvPr>
          <p:cNvSpPr/>
          <p:nvPr/>
        </p:nvSpPr>
        <p:spPr>
          <a:xfrm>
            <a:off x="621792" y="1664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CREATIVE DESTRUCTION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499C007-05C2-90B8-389C-986A9DB5D8A9}"/>
              </a:ext>
            </a:extLst>
          </p:cNvPr>
          <p:cNvSpPr/>
          <p:nvPr/>
        </p:nvSpPr>
        <p:spPr>
          <a:xfrm>
            <a:off x="621792" y="1920240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innovations displace old technologies  -  Schumpeter, 1942; Aghion, 2014. Permissionless Innovation: experimentation with new technologies permitted by default (Thierer, 2014).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E4739BE-0D2D-9F97-1133-DC9C0BDB803B}"/>
              </a:ext>
            </a:extLst>
          </p:cNvPr>
          <p:cNvSpPr/>
          <p:nvPr/>
        </p:nvSpPr>
        <p:spPr>
          <a:xfrm>
            <a:off x="4800600" y="1572768"/>
            <a:ext cx="4069080" cy="155448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5073453-225D-80B4-C450-D1BE519FC5F8}"/>
              </a:ext>
            </a:extLst>
          </p:cNvPr>
          <p:cNvSpPr/>
          <p:nvPr/>
        </p:nvSpPr>
        <p:spPr>
          <a:xfrm>
            <a:off x="4800600" y="1572768"/>
            <a:ext cx="54864" cy="1554480"/>
          </a:xfrm>
          <a:prstGeom prst="rect">
            <a:avLst/>
          </a:prstGeom>
          <a:solidFill>
            <a:srgbClr val="5ECFDB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196E0EA-EF69-9273-88AC-EA0A4D9D3334}"/>
              </a:ext>
            </a:extLst>
          </p:cNvPr>
          <p:cNvSpPr/>
          <p:nvPr/>
        </p:nvSpPr>
        <p:spPr>
          <a:xfrm>
            <a:off x="4965192" y="1664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HARM PRINCIPLE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F2366C-CFFC-7169-7FCC-3BE84E13224C}"/>
              </a:ext>
            </a:extLst>
          </p:cNvPr>
          <p:cNvSpPr/>
          <p:nvPr/>
        </p:nvSpPr>
        <p:spPr>
          <a:xfrm>
            <a:off x="4965192" y="1920240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"The sole end for which mankind are warranted in interfering with the liberty of action of any of their number, is self-protection."  -  J.S. Mill, On Liberty, 1859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1E48AE-4A96-5F37-BCB5-C21952419CCF}"/>
              </a:ext>
            </a:extLst>
          </p:cNvPr>
          <p:cNvSpPr/>
          <p:nvPr/>
        </p:nvSpPr>
        <p:spPr>
          <a:xfrm>
            <a:off x="457200" y="3291840"/>
            <a:ext cx="4069080" cy="155448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74F06DA-03C5-40AA-B6D7-6B01D76383E4}"/>
              </a:ext>
            </a:extLst>
          </p:cNvPr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FBEEE8A-3403-3E64-8DC3-7AC9D62EB67F}"/>
              </a:ext>
            </a:extLst>
          </p:cNvPr>
          <p:cNvSpPr/>
          <p:nvPr/>
        </p:nvSpPr>
        <p:spPr>
          <a:xfrm>
            <a:off x="621792" y="3383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F87C33D-D4EE-BBC5-3C71-5CEC537727BE}"/>
              </a:ext>
            </a:extLst>
          </p:cNvPr>
          <p:cNvSpPr/>
          <p:nvPr/>
        </p:nvSpPr>
        <p:spPr>
          <a:xfrm>
            <a:off x="621792" y="3639312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of current AI governance is less a shortage of ethical principles than a shortage of institutions capable of exercising practical wisdom at the speed and scale the technology demands.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B63BF22-68D5-FA91-1BB9-4ACA721D7154}"/>
              </a:ext>
            </a:extLst>
          </p:cNvPr>
          <p:cNvSpPr/>
          <p:nvPr/>
        </p:nvSpPr>
        <p:spPr>
          <a:xfrm>
            <a:off x="4800600" y="3291840"/>
            <a:ext cx="4069080" cy="155448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9CC1558-0974-E2B6-C840-5549372D7F16}"/>
              </a:ext>
            </a:extLst>
          </p:cNvPr>
          <p:cNvSpPr/>
          <p:nvPr/>
        </p:nvSpPr>
        <p:spPr>
          <a:xfrm>
            <a:off x="4800600" y="3291840"/>
            <a:ext cx="54864" cy="1554480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A3F3E35-A62C-8FF4-E110-7BBEA7858AEC}"/>
              </a:ext>
            </a:extLst>
          </p:cNvPr>
          <p:cNvSpPr/>
          <p:nvPr/>
        </p:nvSpPr>
        <p:spPr>
          <a:xfrm>
            <a:off x="4965192" y="3383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PHRONESIS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D3ABF6-A87F-3BD6-93F3-72AE01203134}"/>
              </a:ext>
            </a:extLst>
          </p:cNvPr>
          <p:cNvSpPr/>
          <p:nvPr/>
        </p:nvSpPr>
        <p:spPr>
          <a:xfrm>
            <a:off x="4965192" y="3639312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 is ineliminable but governable  -  which is precisely what phronesis (practical wisdom) is for. Risk Management: identification of harm during development.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54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41148"/>
          </a:xfrm>
          <a:prstGeom prst="rect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2286000" cy="41148"/>
          </a:xfrm>
          <a:prstGeom prst="rect">
            <a:avLst/>
          </a:prstGeom>
          <a:solidFill>
            <a:srgbClr val="3B9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1143000" cy="41148"/>
          </a:xfrm>
          <a:prstGeom prst="rect">
            <a:avLst/>
          </a:prstGeom>
          <a:solidFill>
            <a:srgbClr val="1D6F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1000" y="0"/>
            <a:ext cx="1143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18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Practice 3: Innovation: liberty and constraints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0" y="4823460"/>
            <a:ext cx="9144000" cy="10973"/>
          </a:xfrm>
          <a:prstGeom prst="rect">
            <a:avLst/>
          </a:prstGeom>
          <a:solidFill>
            <a:srgbClr val="D8E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8508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Philosophy must inform socio-technical systems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48508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fPET 2026  ·  G. Percivall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508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248CFF-0726-6169-EAB3-7BCDE05B0713}"/>
              </a:ext>
            </a:extLst>
          </p:cNvPr>
          <p:cNvSpPr/>
          <p:nvPr/>
        </p:nvSpPr>
        <p:spPr>
          <a:xfrm>
            <a:off x="551806" y="1116623"/>
            <a:ext cx="5910540" cy="366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 xml:space="preserve">Creative destruction </a:t>
            </a:r>
          </a:p>
          <a:p>
            <a:pPr marL="463550" lvl="1" indent="-228600">
              <a:buFont typeface="Arial" panose="020B0604020202020204" pitchFamily="34" charset="0"/>
              <a:buChar char="•"/>
            </a:pPr>
            <a:r>
              <a:rPr lang="en-US" sz="1400" dirty="0"/>
              <a:t xml:space="preserve">Process whereby new innovations displace old  technologies  (Schumpeter, 1942; Aghion, 2014)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 xml:space="preserve">Permissions and Innovation </a:t>
            </a:r>
            <a:r>
              <a:rPr lang="en-US" sz="1400" dirty="0"/>
              <a:t>(Thierer, 2014)</a:t>
            </a:r>
          </a:p>
          <a:p>
            <a:pPr marL="463550" lvl="1" indent="-228600">
              <a:buFont typeface="Arial" panose="020B0604020202020204" pitchFamily="34" charset="0"/>
              <a:buChar char="•"/>
            </a:pPr>
            <a:r>
              <a:rPr lang="en-US" sz="1400" dirty="0"/>
              <a:t xml:space="preserve">Precautionary Principle: developers must prove they will not cause harm </a:t>
            </a:r>
          </a:p>
          <a:p>
            <a:pPr marL="463550" lvl="1" indent="-228600">
              <a:buFont typeface="Arial" panose="020B0604020202020204" pitchFamily="34" charset="0"/>
              <a:buChar char="•"/>
            </a:pPr>
            <a:r>
              <a:rPr lang="en-US" sz="1400" dirty="0"/>
              <a:t xml:space="preserve">Permissionless Innovation: experimentation with new technologies permitted by default. 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kern="0" dirty="0"/>
              <a:t xml:space="preserve">Harm principle: </a:t>
            </a:r>
            <a:r>
              <a:rPr lang="en-US" sz="1400" kern="0" dirty="0"/>
              <a:t>(JS Mill, On Liberty, 1859)</a:t>
            </a:r>
          </a:p>
          <a:p>
            <a:pPr marL="463550" lvl="1" indent="-2286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 xml:space="preserve">The sole end for which mankind are warranted, individually or collectively, in interfering with the liberty of action of any of their number, is self-protection. 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 failure of current AI governance is less a shortage of ethical principles than a shortage of institutions capable of exercising practical wisdom at the speed and scale the technology demands.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Identificatin</a:t>
            </a:r>
            <a:r>
              <a:rPr lang="en-US" sz="1400" dirty="0"/>
              <a:t xml:space="preserve"> of harm during development – Risk Management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The tension between innovation and constraint is one of the defining features of the current AI moment.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 xml:space="preserve">tension is </a:t>
            </a:r>
            <a:r>
              <a:rPr lang="en-US" sz="1400" b="1" dirty="0"/>
              <a:t>ineliminable but governable</a:t>
            </a:r>
            <a:r>
              <a:rPr lang="en-US" sz="1400" dirty="0"/>
              <a:t xml:space="preserve"> — which is precisely what </a:t>
            </a:r>
            <a:r>
              <a:rPr lang="en-US" sz="1400" i="1" dirty="0"/>
              <a:t>phronesis</a:t>
            </a:r>
            <a:r>
              <a:rPr lang="en-US" sz="1400" dirty="0"/>
              <a:t xml:space="preserve"> is for. 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 minute potato cooker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B7CEC2-8235-AF64-6860-91D559ED04C4}"/>
              </a:ext>
            </a:extLst>
          </p:cNvPr>
          <p:cNvGrpSpPr/>
          <p:nvPr/>
        </p:nvGrpSpPr>
        <p:grpSpPr>
          <a:xfrm>
            <a:off x="6717323" y="1920240"/>
            <a:ext cx="2084832" cy="1956816"/>
            <a:chOff x="6126480" y="1609344"/>
            <a:chExt cx="2084832" cy="19568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84465D-34EC-BA46-89A7-7578A843941D}"/>
                </a:ext>
              </a:extLst>
            </p:cNvPr>
            <p:cNvSpPr/>
            <p:nvPr/>
          </p:nvSpPr>
          <p:spPr>
            <a:xfrm>
              <a:off x="6126480" y="1609344"/>
              <a:ext cx="2084832" cy="1956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 25">
              <a:extLst>
                <a:ext uri="{FF2B5EF4-FFF2-40B4-BE49-F238E27FC236}">
                  <a16:creationId xmlns:a16="http://schemas.microsoft.com/office/drawing/2014/main" id="{630B175B-1F74-E048-CB13-1DF74B324CF2}"/>
                </a:ext>
              </a:extLst>
            </p:cNvPr>
            <p:cNvSpPr/>
            <p:nvPr/>
          </p:nvSpPr>
          <p:spPr>
            <a:xfrm>
              <a:off x="6208776" y="1645920"/>
              <a:ext cx="1828800" cy="1856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AI Governance</a:t>
              </a:r>
            </a:p>
            <a:p>
              <a:pPr marL="285750" indent="-285750" algn="l">
                <a:buFontTx/>
                <a:buChar char="-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US</a:t>
              </a:r>
            </a:p>
            <a:p>
              <a:pPr marL="285750" indent="-285750" algn="l">
                <a:buFontTx/>
                <a:buChar char="-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Europe</a:t>
              </a:r>
            </a:p>
            <a:p>
              <a:pPr marL="285750" indent="-285750" algn="l">
                <a:buFontTx/>
                <a:buChar char="-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China</a:t>
              </a:r>
            </a:p>
            <a:p>
              <a:pPr marL="285750" indent="-285750" algn="l">
                <a:buFontTx/>
                <a:buChar char="-"/>
              </a:pPr>
              <a:r>
                <a:rPr lang="en-US" sz="1400" dirty="0">
                  <a:solidFill>
                    <a:schemeClr val="bg1"/>
                  </a:solidFill>
                  <a:ea typeface="Inter" pitchFamily="34" charset="-122"/>
                  <a:cs typeface="Inter" pitchFamily="34" charset="-120"/>
                </a:rPr>
                <a:t>OECD</a:t>
              </a:r>
            </a:p>
          </p:txBody>
        </p:sp>
        <p:sp>
          <p:nvSpPr>
            <p:cNvPr id="16" name="Text 26">
              <a:extLst>
                <a:ext uri="{FF2B5EF4-FFF2-40B4-BE49-F238E27FC236}">
                  <a16:creationId xmlns:a16="http://schemas.microsoft.com/office/drawing/2014/main" id="{FEA9AB83-16EB-09CA-2EC1-8B9A0C03F6BD}"/>
                </a:ext>
              </a:extLst>
            </p:cNvPr>
            <p:cNvSpPr/>
            <p:nvPr/>
          </p:nvSpPr>
          <p:spPr>
            <a:xfrm>
              <a:off x="6254496" y="3163824"/>
              <a:ext cx="12618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05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300" dirty="0">
                <a:solidFill>
                  <a:srgbClr val="5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&amp; EPISTEMOLOGY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4688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4  -  AI Redefines Natural Philosophy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must inform socio-technical systems engineering  ·  fPET 2026  ·  G. Percivall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64008" cy="4114800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 causes us to consider the effect of technology on what it means to be a human in the world.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325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15727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entity that senses and responds to its environment and takes actions to achieve its goals.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54864" cy="475488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1945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4323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neural networks with symbolic representations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54864" cy="475488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788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Web (IEEE 2874)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026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physical AI to serve people and society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383280"/>
            <a:ext cx="54864" cy="475488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3832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Epistemology in Agent Networks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621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of agents in epistemic networks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977640"/>
            <a:ext cx="54864" cy="475488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9776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Intelligence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215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social agents and governance including norms and contracts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343400" cy="3703320"/>
          </a:xfrm>
          <a:prstGeom prst="rect">
            <a:avLst/>
          </a:prstGeom>
          <a:solidFill>
            <a:srgbClr val="F0F5FB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54864" cy="3703320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10972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8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AGENCY  -  TOMASELLO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36592" y="1417320"/>
            <a:ext cx="402336" cy="402336"/>
          </a:xfrm>
          <a:prstGeom prst="ellipse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14356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16550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agents with shared goals, norms, contracts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2194560"/>
            <a:ext cx="402336" cy="402336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0368" y="2212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24323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behavior with mental state attribution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971800"/>
            <a:ext cx="402336" cy="402336"/>
          </a:xfrm>
          <a:prstGeom prst="ellipse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6592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2990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Agent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32095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based on beliefs and desires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3749040"/>
            <a:ext cx="402336" cy="402336"/>
          </a:xfrm>
          <a:prstGeom prst="ellipse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36592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30368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Agent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0368" y="39867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Perception-action loops in physical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41148"/>
          </a:xfrm>
          <a:prstGeom prst="rect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2286000" cy="41148"/>
          </a:xfrm>
          <a:prstGeom prst="rect">
            <a:avLst/>
          </a:prstGeom>
          <a:solidFill>
            <a:srgbClr val="3B9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1143000" cy="41148"/>
          </a:xfrm>
          <a:prstGeom prst="rect">
            <a:avLst/>
          </a:prstGeom>
          <a:solidFill>
            <a:srgbClr val="1D6F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1000" y="0"/>
            <a:ext cx="1143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AGENCY &amp; EPISTEMOLOGY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18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Practice 4: AI redefines Natural Philosophy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10973"/>
          </a:xfrm>
          <a:prstGeom prst="rect">
            <a:avLst/>
          </a:prstGeom>
          <a:solidFill>
            <a:srgbClr val="D8E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8508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Philosophy must inform socio-technical systems engineering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48508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fPET 2026  ·  G. Percivall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508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D3CBBBA-30C8-6E15-898C-9B42BFF5A0E1}"/>
              </a:ext>
            </a:extLst>
          </p:cNvPr>
          <p:cNvSpPr/>
          <p:nvPr/>
        </p:nvSpPr>
        <p:spPr>
          <a:xfrm>
            <a:off x="713232" y="1063869"/>
            <a:ext cx="5458968" cy="361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AI agent</a:t>
            </a:r>
          </a:p>
          <a:p>
            <a:r>
              <a:rPr lang="en-US" dirty="0"/>
              <a:t>automated (3.1.7) entity that senses and responds to its environment and takes actions to achieve its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Artificial intelligence causes us to consider the effect of technology on what it means to be a human in the world.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redefined space via spatial embedding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Agency in natural philosophy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Epistemology in web of agents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Neurosymbolic</a:t>
            </a:r>
            <a:r>
              <a:rPr lang="en-US" dirty="0"/>
              <a:t xml:space="preserve"> AI: Combining neural networks with symbolic representations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Spatial Web— guiding physical AI to serve the needs of people and society. (IEEE 2874:2025)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Ontology for entities in hyperspace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Activities of agents in epistemic networks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Goverance</a:t>
            </a:r>
            <a:r>
              <a:rPr lang="en-US" dirty="0"/>
              <a:t xml:space="preserve"> including norms and contracts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Collective intelligence from social agents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B026BE-A5CB-4A0A-ABC4-68B801F90715}"/>
              </a:ext>
            </a:extLst>
          </p:cNvPr>
          <p:cNvGrpSpPr/>
          <p:nvPr/>
        </p:nvGrpSpPr>
        <p:grpSpPr>
          <a:xfrm>
            <a:off x="6893169" y="2848705"/>
            <a:ext cx="1662802" cy="2022230"/>
            <a:chOff x="6126480" y="1609344"/>
            <a:chExt cx="2084832" cy="195681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03BBDAE-09AB-2AFB-68BE-36F24D19E274}"/>
                </a:ext>
              </a:extLst>
            </p:cNvPr>
            <p:cNvSpPr/>
            <p:nvPr/>
          </p:nvSpPr>
          <p:spPr>
            <a:xfrm>
              <a:off x="6126480" y="1609344"/>
              <a:ext cx="2084832" cy="1956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 25">
              <a:extLst>
                <a:ext uri="{FF2B5EF4-FFF2-40B4-BE49-F238E27FC236}">
                  <a16:creationId xmlns:a16="http://schemas.microsoft.com/office/drawing/2014/main" id="{1AD8142D-821B-3302-AAA5-6B08459E424E}"/>
                </a:ext>
              </a:extLst>
            </p:cNvPr>
            <p:cNvSpPr/>
            <p:nvPr/>
          </p:nvSpPr>
          <p:spPr>
            <a:xfrm>
              <a:off x="6208776" y="1645920"/>
              <a:ext cx="1828800" cy="2324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Levels of Agency: Tomasello</a:t>
              </a:r>
            </a:p>
          </p:txBody>
        </p:sp>
        <p:sp>
          <p:nvSpPr>
            <p:cNvPr id="40" name="Text 26">
              <a:extLst>
                <a:ext uri="{FF2B5EF4-FFF2-40B4-BE49-F238E27FC236}">
                  <a16:creationId xmlns:a16="http://schemas.microsoft.com/office/drawing/2014/main" id="{BDBF8DDB-44F5-1965-8F91-3CC8741F1A82}"/>
                </a:ext>
              </a:extLst>
            </p:cNvPr>
            <p:cNvSpPr/>
            <p:nvPr/>
          </p:nvSpPr>
          <p:spPr>
            <a:xfrm>
              <a:off x="6254496" y="3163824"/>
              <a:ext cx="12618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050" dirty="0"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55DF222F-DD16-ABC9-B9FB-D3104085D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1" t="22815" r="72336" b="2740"/>
          <a:stretch>
            <a:fillRect/>
          </a:stretch>
        </p:blipFill>
        <p:spPr>
          <a:xfrm>
            <a:off x="7244863" y="3145747"/>
            <a:ext cx="958361" cy="167243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9DD69BF-05CD-5D0E-DB8A-9A13D1CDBF52}"/>
              </a:ext>
            </a:extLst>
          </p:cNvPr>
          <p:cNvGrpSpPr/>
          <p:nvPr/>
        </p:nvGrpSpPr>
        <p:grpSpPr>
          <a:xfrm>
            <a:off x="6884377" y="1066800"/>
            <a:ext cx="1683317" cy="1746738"/>
            <a:chOff x="6126480" y="1609344"/>
            <a:chExt cx="2084832" cy="195681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B56116-2AC9-23D1-4619-E3AF810E5CA5}"/>
                </a:ext>
              </a:extLst>
            </p:cNvPr>
            <p:cNvSpPr/>
            <p:nvPr/>
          </p:nvSpPr>
          <p:spPr>
            <a:xfrm>
              <a:off x="6126480" y="1609344"/>
              <a:ext cx="2084832" cy="19568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2143F536-096B-C543-9918-BA2E8D4D7A8C}"/>
                </a:ext>
              </a:extLst>
            </p:cNvPr>
            <p:cNvSpPr/>
            <p:nvPr/>
          </p:nvSpPr>
          <p:spPr>
            <a:xfrm>
              <a:off x="6208776" y="1645920"/>
              <a:ext cx="1828800" cy="2324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Ontology</a:t>
              </a:r>
            </a:p>
          </p:txBody>
        </p:sp>
        <p:sp>
          <p:nvSpPr>
            <p:cNvPr id="50" name="Text 26">
              <a:extLst>
                <a:ext uri="{FF2B5EF4-FFF2-40B4-BE49-F238E27FC236}">
                  <a16:creationId xmlns:a16="http://schemas.microsoft.com/office/drawing/2014/main" id="{9158028E-F7D5-6AAF-2AF3-3A87E0D88B66}"/>
                </a:ext>
              </a:extLst>
            </p:cNvPr>
            <p:cNvSpPr/>
            <p:nvPr/>
          </p:nvSpPr>
          <p:spPr>
            <a:xfrm>
              <a:off x="6254496" y="3163824"/>
              <a:ext cx="126187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endParaRPr lang="en-US" sz="1050" dirty="0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5FD2B73C-5324-DC9C-14F9-8AB7B41EEB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75" t="2619" r="10488" b="4582"/>
          <a:stretch>
            <a:fillRect/>
          </a:stretch>
        </p:blipFill>
        <p:spPr>
          <a:xfrm>
            <a:off x="6981093" y="1424354"/>
            <a:ext cx="1558566" cy="1286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41148"/>
          </a:xfrm>
          <a:prstGeom prst="rect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2286000" cy="41148"/>
          </a:xfrm>
          <a:prstGeom prst="rect">
            <a:avLst/>
          </a:prstGeom>
          <a:solidFill>
            <a:srgbClr val="3B9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1143000" cy="41148"/>
          </a:xfrm>
          <a:prstGeom prst="rect">
            <a:avLst/>
          </a:prstGeom>
          <a:solidFill>
            <a:srgbClr val="1D6F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1000" y="0"/>
            <a:ext cx="1143000" cy="41148"/>
          </a:xfrm>
          <a:prstGeom prst="rect">
            <a:avLst/>
          </a:prstGeom>
          <a:solidFill>
            <a:srgbClr val="081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INQUIRY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818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to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252728"/>
            <a:ext cx="128016" cy="128016"/>
          </a:xfrm>
          <a:prstGeom prst="ellipse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77240" y="11338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8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"philosopher-builder"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4447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older claim revived: builders of complex artifacts owe philosophical accounts of what they build, not merely the working artifact.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86584"/>
            <a:ext cx="128016" cy="128016"/>
          </a:xfrm>
          <a:prstGeom prst="ellipse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77240" y="22677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8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these four examples viable paths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5786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examples were identified based on experience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>Is there value in studying the examples from philosophic perspective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>What other examples might be better?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28016" cy="128016"/>
          </a:xfrm>
          <a:prstGeom prst="ellipse">
            <a:avLst/>
          </a:prstGeom>
          <a:solidFill>
            <a:srgbClr val="0D6B7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777240" y="36393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8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Connecting philosophic researchers with engineering  professional </a:t>
            </a:r>
            <a:r>
              <a:rPr lang="en-US" sz="1600" b="1" dirty="0" err="1">
                <a:solidFill>
                  <a:srgbClr val="0818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socities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 xml:space="preserve">Connecting </a:t>
            </a:r>
            <a:r>
              <a:rPr lang="en-US" sz="1200" dirty="0" err="1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>philosphoy</a:t>
            </a: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 xml:space="preserve"> with engineers is a challenge.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 xml:space="preserve">Connecting engineering </a:t>
            </a:r>
            <a:r>
              <a:rPr lang="en-US" sz="1200" dirty="0" err="1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>wth</a:t>
            </a: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 xml:space="preserve"> </a:t>
            </a:r>
            <a:r>
              <a:rPr lang="en-US" sz="1200" dirty="0" err="1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>philosophyers</a:t>
            </a:r>
            <a:r>
              <a:rPr lang="en-US" sz="12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</a:rPr>
              <a:t xml:space="preserve"> is a challenge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1097280"/>
            <a:ext cx="36118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F"/>
            </a:solidFill>
            <a:prstDash val="solid"/>
          </a:ln>
          <a:effectLst>
            <a:outerShdw blurRad="177800" dist="38100" dir="5400000" algn="bl" rotWithShape="0">
              <a:srgbClr val="0818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3480" y="1097280"/>
            <a:ext cx="3611880" cy="54864"/>
          </a:xfrm>
          <a:prstGeom prst="rect">
            <a:avLst/>
          </a:prstGeom>
          <a:solidFill>
            <a:srgbClr val="5E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1261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WORK MEETS PRACTICE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15361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8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Standards, refined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01168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systems &amp; software engineering standards codified large cyber-physical practice — but need refinement for software-centric, data-intensive, society-shaping products.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traditions in synthesis: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30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◆"/>
            </a:pPr>
            <a:r>
              <a:rPr lang="en-US" sz="105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— rigorous, consensus-driven engineering standards.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◆"/>
            </a:pPr>
            <a:r>
              <a:rPr lang="en-US" sz="105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St. John's College — primary-text, seminar-based humanizing inquiry.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◆"/>
            </a:pPr>
            <a:r>
              <a:rPr lang="en-US" sz="1050" dirty="0">
                <a:solidFill>
                  <a:srgbClr val="2A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Combined: explicit philosophical inquiry inside engineering workflows.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23460"/>
            <a:ext cx="9144000" cy="10973"/>
          </a:xfrm>
          <a:prstGeom prst="rect">
            <a:avLst/>
          </a:prstGeom>
          <a:solidFill>
            <a:srgbClr val="D8E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8508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Philosophy must inform socio-technical systems 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508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fPET 2026  ·  G. Percivall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508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INQUIRY  -  WHERE TO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 Philosopher-Builder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36576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4160520" cy="256032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MEETS PRACTICE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901952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older claim revived: builders of complex artifacts owe philosophical accounts of what they build, not merely the working artifact.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Are these four examples viable paths? The examples were identified based on experience  -  is there value in studying them from a philosophic perspective? What other examples might be better?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37760" y="1572768"/>
            <a:ext cx="4160520" cy="256032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47488" y="1572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TRADITIONS IN SYNTHESIS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47488" y="1920240"/>
            <a:ext cx="45720" cy="475488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93792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rigorous, consensus-driven engineering standards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47488" y="2578608"/>
            <a:ext cx="45720" cy="475488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93792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St. John's College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primary-text, seminar-based humanising inquiry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47488" y="3236976"/>
            <a:ext cx="45720" cy="475488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93792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 explicit philosophical inquiry inside engineering workflows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99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refined  -  today's systems &amp; software engineering standards need refinement for software-centric, data-intensive, society-shaping products.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81840"/>
          </a:solidFill>
          <a:ln w="12700">
            <a:solidFill>
              <a:srgbClr val="0818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9904" y="0"/>
            <a:ext cx="3054096" cy="54864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DIMENSION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0233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Society's Critical Systems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607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"Making the tacit power of engineers visible - and philosophy systematic in the workflows, standards, and governance of engineering practice."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6824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-  G. Percivall, fPET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45720" cy="512064"/>
          </a:xfrm>
          <a:prstGeom prst="rect">
            <a:avLst/>
          </a:prstGeom>
          <a:solidFill>
            <a:srgbClr val="5ECFDB"/>
          </a:solidFill>
          <a:ln w="12700">
            <a:solidFill>
              <a:srgbClr val="5ECF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20756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recognition to practice.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fPET recognizes engineers' tacit power in shaping societal infrastructure. We go further: philosophy must be systematically integrated into engineering workflows, standards, and governance.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45720" cy="512064"/>
          </a:xfrm>
          <a:prstGeom prst="rect">
            <a:avLst/>
          </a:prstGeom>
          <a:solidFill>
            <a:srgbClr val="3B9EDD"/>
          </a:solidFill>
          <a:ln w="12700">
            <a:solidFill>
              <a:srgbClr val="3B9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73405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traditions in synthesis.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IEEE rigor + St. John's primary-text inquiry  -  at work in IEEE 2874, IEEE AI standards, and SJC Graduate Institute seminars on ethical technology and participatory design.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410712"/>
            <a:ext cx="45720" cy="512064"/>
          </a:xfrm>
          <a:prstGeom prst="rect">
            <a:avLst/>
          </a:prstGeom>
          <a:solidFill>
            <a:srgbClr val="0D6B78"/>
          </a:solidFill>
          <a:ln w="12700">
            <a:solidFill>
              <a:srgbClr val="0D6B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" y="339242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invitation to fPET.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8DF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framework  -  robust, practical, responsive  -  open for discussion.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234440" cy="32004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28800" y="4297680"/>
            <a:ext cx="1234440" cy="32004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2880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4297680"/>
            <a:ext cx="1234440" cy="32004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0" y="4297680"/>
            <a:ext cx="1234440" cy="32004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0" y="4297680"/>
            <a:ext cx="1234440" cy="32004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IEEE 2874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0" y="4297680"/>
            <a:ext cx="1234440" cy="320040"/>
          </a:xfrm>
          <a:prstGeom prst="rect">
            <a:avLst/>
          </a:prstGeom>
          <a:solidFill>
            <a:srgbClr val="0D2A5E"/>
          </a:solidFill>
          <a:ln w="12700">
            <a:solidFill>
              <a:srgbClr val="1A3D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ECF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St. John's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A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percivall@ieee.org  ·  gspercivall@sjc.edu  ·  georoundtable.xyz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548640"/>
            <a:ext cx="4572000" cy="4572000"/>
          </a:xfrm>
          <a:prstGeom prst="ellipse">
            <a:avLst/>
          </a:prstGeom>
          <a:solidFill>
            <a:srgbClr val="0D6B78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2743200"/>
          </a:xfrm>
          <a:prstGeom prst="ellipse">
            <a:avLst/>
          </a:prstGeom>
          <a:solidFill>
            <a:srgbClr val="1D6FA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SOCIAL DIMENSION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 xml:space="preserve">Engineering </a:t>
            </a:r>
            <a:r>
              <a:rPr lang="en-US" sz="3000" b="1" i="1" dirty="0">
                <a:solidFill>
                  <a:srgbClr val="5ECF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 xml:space="preserve">society's </a:t>
            </a: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critical systems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" cy="1188720"/>
          </a:xfrm>
          <a:prstGeom prst="rect">
            <a:avLst/>
          </a:prstGeom>
          <a:solidFill>
            <a:srgbClr val="5E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AF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“Making the tacit power of engineers visible — and philosophy systematic in the workflows, standards, and governance of engineering practice.”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G. Percivall, fPET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987552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3291840"/>
            <a:ext cx="576072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329184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3291840"/>
            <a:ext cx="850392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329184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3280" y="3291840"/>
            <a:ext cx="576072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329184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0" y="3291840"/>
            <a:ext cx="781812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0" y="3291840"/>
            <a:ext cx="78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2874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3639312"/>
            <a:ext cx="850392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5ECF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3931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St. John's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0" y="1645920"/>
            <a:ext cx="3703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recognition to practice.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30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fPET recognizes engineers' tacit power in shaping societal infrastructure. We go further: philosophy must be systematically integrated into engineering workflows, standards, and governance.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traditions in synthesis.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30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rigor + St. John's primary-text inquiry. At work in IEEE 2874, IEEE AI standards, and SJC Graduate Institute seminars on ethical technology and participatory design.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invitation to fPET.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30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4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framework — robust, practical, responsive — open for discussion.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732020"/>
            <a:ext cx="9144000" cy="10973"/>
          </a:xfrm>
          <a:prstGeom prst="rect">
            <a:avLst/>
          </a:prstGeom>
          <a:solidFill>
            <a:srgbClr val="5ECFD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7960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percivall@ieee.org   ·   gspercivall@sjc.edu   ·   georoundtable.xyz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796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CF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Roundtable">
      <a:dk1>
        <a:sysClr val="windowText" lastClr="000000"/>
      </a:dk1>
      <a:lt1>
        <a:sysClr val="window" lastClr="FFFFFF"/>
      </a:lt1>
      <a:dk2>
        <a:srgbClr val="081840"/>
      </a:dk2>
      <a:lt2>
        <a:srgbClr val="F0F5FB"/>
      </a:lt2>
      <a:accent1>
        <a:srgbClr val="1D6FA4"/>
      </a:accent1>
      <a:accent2>
        <a:srgbClr val="0D6B78"/>
      </a:accent2>
      <a:accent3>
        <a:srgbClr val="3B9EDD"/>
      </a:accent3>
      <a:accent4>
        <a:srgbClr val="5ECFDB"/>
      </a:accent4>
      <a:accent5>
        <a:srgbClr val="5A6880"/>
      </a:accent5>
      <a:accent6>
        <a:srgbClr val="163A70"/>
      </a:accent6>
      <a:hlink>
        <a:srgbClr val="1D6FA4"/>
      </a:hlink>
      <a:folHlink>
        <a:srgbClr val="0D6B78"/>
      </a:folHlink>
    </a:clrScheme>
    <a:fontScheme name="GeoRoundtable">
      <a:majorFont>
        <a:latin typeface="Georgia" panose="02040503050406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17298</TotalTime>
  <Words>2251</Words>
  <Application>Microsoft Macintosh PowerPoint</Application>
  <PresentationFormat>On-screen Show (16:9)</PresentationFormat>
  <Paragraphs>334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Georgia</vt:lpstr>
      <vt:lpstr>Inter</vt:lpstr>
      <vt:lpstr>Playfair Display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Philosophy must inform socio-technical systems engineering</dc:title>
  <dc:subject>fPET 2026 — Track 1: Philosophy of Engineering and Technology</dc:subject>
  <dc:creator>George Percivall</dc:creator>
  <cp:lastModifiedBy>George Percivall</cp:lastModifiedBy>
  <cp:revision>15</cp:revision>
  <dcterms:created xsi:type="dcterms:W3CDTF">2026-04-30T18:59:37Z</dcterms:created>
  <dcterms:modified xsi:type="dcterms:W3CDTF">2026-05-23T20:41:57Z</dcterms:modified>
</cp:coreProperties>
</file>